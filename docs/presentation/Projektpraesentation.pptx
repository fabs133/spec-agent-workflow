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Projektpräsentation für das IT-Projekt im Rahmen der Fächer SD (Softwareentwicklung und Datenmanagement), VP (Entwicklung vernetzter Prozesse) und GI (Gestaltung von IT-Dienstleistungen). Das Spec-Agent Workflow System ist ein Python-basiertes Multi-Agent-System, das unstrukturierte Textdateien einliest, mittels LLM-Agenten strukturierte Work Items extrahiert und dabei jeden Schritt mit reinen Spezifikationsfunktionen validiert. Alle Ergebnisse werden in einer SQLite-Datenbank protokolliert und über eine Web-Oberfläche visualisiert.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Kernproblem: In Projekten entstehen große Mengen unstrukturierter Textdateien — Meeting-Notizen, Anforderungsdokumente, Brainstorming-Ergebnisse. Die manuelle Überführung dieser Texte in strukturierte Aufgaben (Work Items für Kanban-Boards) ist zeitintensiv und fehleranfällig. Die Lösung: Ein Multi-Agent-System, das diesen Prozess automatisiert. Der entscheidende Unterschied zu einem einfachen LLM-Aufruf: Das System validiert jeden Verarbeitungsschritt mit reinen Spezifikationsfunktionen (Specification Pattern). Diese Specs sind deterministisch, haben keine Seiteneffekte und sind trivial testbar. So wird sichergestellt, dass die Ergebnisse nachvollziehbar und qualitätsgesichert sind.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Use-Case-Diagramm zeigt die drei Hauptakteure: den Benutzer (Projektplaner), den Administrator und die externe OpenAI API. Der Benutzer hat 8 Interaktionsmöglichkeiten: Workflow konfigurieren und starten, API-Key und Modell konfigurieren, Input-Dateien bereitstellen, Ergebnisse einsehen, Run-Historie durchsuchen, Items filtern/browsen, Testprotokoll und Architektur einsehen sowie das Manifest inspizieren. Die internen System-Use-Cases (Textdateien laden via IntakeAgent, Items extrahieren via ExtractAgent, Ergebnisse schreiben via WriteAgent) werden automatisch durch den Workflow ausgelöst und jeweils durch Spec-Validierung abgesichert. Die OpenAI API wird nur vom ExtractAgent aufgerufen — der Rest des Systems ist vom externen Provider entkoppelt.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Bewusste Designentscheidung: Zero Dependencies. Das gesamte System läuft mit einer frischen Python 3.10+ Installation — kein pip install, keine externen Pakete. Der Grund: Die Schulrechner haben Python installiert, aber pip hat keinen Netzwerkzugang. Statt Wheels manuell zu installieren, wurde das Projekt komplett auf die Standardbibliothek umgestellt: urllib.request statt openai-SDK, json statt pyyaml, http.server statt Streamlit. Die Web-UI ist eine Single-Page-Application mit reinem HTML/CSS/JS, ausgeliefert über einen stdlib-HTTP-Server. SQLite dient als relationale Datenbank mit 7 Tabellen und Foreign-Key-Constraints (PRAGMA foreign_keys =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Herzstück der Architektur: Das Specification Pattern, adaptiert für Multi-Agent-Workflows. Kernprinzip: Specs sind reine Funktionen — sie nehmen einen Context, prüfen eine Bedingung und geben ein typisiertes SpecResult zurück (passed/failed + Nachricht + Lösungsvorschlag). Kein IO, keine Seiteneffekte, deterministisch. Damit sind alle 29 Spec-Tests ohne Mocking ausführbar. Agents hingegen dürfen IO ausführen (Dateien lesen, LLM aufrufen, Dateien schreiben). Der Orchestrator führt die Ausführungsschleife: Pre-Specs prüfen → Agent ausführen → Post-Specs prüfen → Invariant-Specs prüfen → Router wählt nächsten Step. Der gesamte Workflow-Graph ist JSON-Daten (Manifest), nicht Python-Code. Neuer Workflow = neue JSON-Datei editieren, kein Code-Deployment nötig.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Klassendiagramm zeigt die vollständige Klassenstruktur des Systems in drei Paketen: core/ (Engine), agents/ (konkrete Agenten) und db/ (Datenbankzugriff). Zentrale Klassen: Context als Shared State Container, SpecResult als typisiertes Ergebnis einer Spec-Prüfung, BaseAgent als abstrakte Basisklasse mit execute()-Methode (Template Method Pattern), die von IntakeAgent, ExtractAgent und WriteAgent konkret implementiert wird. Der Orchestrator nutzt Composition: er hält eine Referenz auf Manifest, Router und alle Repository-Klassen. Das Manifest parst JSON in StepDefinitions mit RetryPolicy. Die Router-Klasse implementiert die Graph-Traversierung anhand von Edges mit Bedingungen (on_pass/on_fail). Im db-Paket: Fünf Repository-Klassen (Run, Step, SpecResult, Trace, Item) plus SettingsRepository — alle nehmen einen sqlite3.Connection-Parameter für Testbarkeit (Dependency Injection).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Web-Oberfläche ist eine Single-Page-Application (SPA) mit 10 Seiten, ausgeliefert über einen stdlib-HTTP-Server (http.server.HTTPServer). Keine externen Abhängigkeiten — reines HTML, CSS und JavaScript. Das Frontend kommuniziert über 15+ JSON-API-Endpunkte mit dem Backend. Technische Highlights: Dark Theme mit CSS Custom Properties, Live-Workflow-Ausführung via Threading + Polling-Status-Endpoint, Hash-basiertes Routing zwischen den Seiten. Die Settings-Seite ermöglicht die Konfiguration von API-Key, Modell und Input/Output-Ordnern. Ein besonderes Feature: Der Provider kann zwischen OpenAI API und einem lokal gehosteten Modell gewechselt werden — der Workflow bleibt identisch, da die Architektur den LLM-Zugriff über eine einheitliche Abstraktionsschicht kapselt.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Datenbankmodell umfasst 7 Tabellen in der 3. Normalform. Die zentrale Tabelle workflow_runs speichert jeden Workflow-Lauf mit Status, Zeitstempeln und Konfiguration. Darunter: step_executions (ein Datensatz pro Step-Versuch, einschließlich Retries), spec_results (individuelle Spec-Prüfungsergebnisse mit Ergebnis, Detail und Lösungsvorschlag), context_snapshots (vollständiger Context vor und nach jedem Step für Nachvollziehbarkeit), agent_traces (Aktionsprotokoll: LLM-Aufrufe, Dateioperationen mit Tokens und Dauer), extracted_items (die eigentlichen Workflow-Ergebnisse: Titel, Typ, Tags, Beschreibung, Konfidenz) und app_settings (persistierte Konfiguration). Alle Tabellen verwenden UUID-Primärschlüssel. Foreign-Key-Constraints sind auf Datenbankebene erzwungen (PRAGMA foreign_keys = ON). Die Datenzugriffsschicht implementiert das Repository Pattern — jede Repository-Klasse nimmt einen sqlite3.Connection-Parameter, was Dependency Injection für Tests ermöglicht (in-memory SQLite).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Dieses Code-Beispiel zeigt das zentrale Designprinzip: Eine Spec-Funktion (extract_post) prüft die Post-Bedingung des Extract-Steps. Sie nimmt einen Context, prüft ob extracted_items vorhanden sind und jedes Item einen Titel hat, und gibt ein typisiertes SpecResult zurück. Drei Eigenschaften machen Specs besonders: (1) Kein IO — keine Dateioperationen, keine Netzwerkaufrufe, kein Datenbankzugriff. (2) Deterministisch — gleicher Input liefert immer das gleiche Ergebnis. (3) Testbar ohne Mocking — da Specs nur den Context lesen, können alle 29 Spec-Tests direkt mit konstruierten Context-Objekten ausgeführt werden, ohne Mocks oder Stubs.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Qualitätssicherung umfasst 85 automatisierte Unit Tests und ein formales Testprotokoll mit 30 dokumentierten Testfällen in 6 Bereichen. Alle Tests laufen ohne externe Abhängigkeiten — kein API-Aufruf, keine Dateisystemzugriffe, kein Netzwerk. Die 29 Spec-Tests sind besonders hervorzuheben: Da Specs reine Funktionen sind, ist kein Mocking erforderlich. Das formale Testprotokoll (Testprotokoll.docx) dokumentiert jeden Testfall mit Nummer, Beschreibung, Vorbedingung, Eingabe, erwartetes Ergebnis, Ist-Ergebnis und Status — alle 30 Testfälle: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Übersicht der weiteren UML-Diagramme im Repository (uml/-Ordner). Aktivitätsdiagramm: Zeigt den vollständigen Orchestrator-Ablauf — Manifest laden, Steps sequenziell ausführen mit Pre/Post/Invariant-Specs, Retry-Logik bei Fehlern, Budget-Prüfung und Loop Detection. Sequenzdiagramm: Zeigt den Happy-Path einer Workflow-Ausführung als Nachrichtenfluss: Benutzer → Web UI → HTTP Server → Orchestrator → Spec Registry → IntakeAgent → ExtractAgent → OpenAI API → WriteAgent → SQLite. Zustandsdiagramm: Modelliert den Lebenszyklus eines Workflow-Runs mit den Zuständen Pending, Running (mit verschachteltem Step-Zustandsautomaten), Completed und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Zusammenfassung: Das Spec-Agent Workflow System demonstriert, wie ein Multi-Agent-System mit architektonischer Disziplin gebaut werden kann. Der Spec-Pattern-Ansatz — reine Validierungsfunktionen, die unabhängig von IO und Seiteneffekten sind — hat sich als tragendes Architekturmuster bewährt: 29 der 85 Tests benötigen keinerlei Mocking. Die Zero-Dependency-Entscheidung war anfangs aufwendiger (Streamlit durch stdlib-HTTP-Server ersetzen, OpenAI SDK durch urllib.request), zahlt sich aber in der Deploybarkeit aus. Das Projekt hat mir gezeigt, dass Full-Stack-Entwicklung als Einzelperson vor allem Scope-Disziplin erfordert: Jede Abstraktion muss sich rechtfertigen, und die wichtigste Fähigkeit ist zu entscheiden, was man NICHT baut.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D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F8FE6"/>
          </a:solidFill>
          <a:ln/>
        </p:spPr>
      </p:sp>
      <p:sp>
        <p:nvSpPr>
          <p:cNvPr id="3" name="Text 1"/>
          <p:cNvSpPr/>
          <p:nvPr/>
        </p:nvSpPr>
        <p:spPr>
          <a:xfrm>
            <a:off x="731520" y="1280160"/>
            <a:ext cx="7680960" cy="1097280"/>
          </a:xfrm>
          <a:prstGeom prst="rect">
            <a:avLst/>
          </a:prstGeom>
          <a:noFill/>
          <a:ln/>
        </p:spPr>
        <p:txBody>
          <a:bodyPr wrap="square"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Spec-Agent Workflow System</a:t>
            </a:r>
            <a:endParaRPr lang="en-US" sz="4000" dirty="0"/>
          </a:p>
        </p:txBody>
      </p:sp>
      <p:sp>
        <p:nvSpPr>
          <p:cNvPr id="4" name="Text 2"/>
          <p:cNvSpPr/>
          <p:nvPr/>
        </p:nvSpPr>
        <p:spPr>
          <a:xfrm>
            <a:off x="731520" y="2286000"/>
            <a:ext cx="7680960" cy="548640"/>
          </a:xfrm>
          <a:prstGeom prst="rect">
            <a:avLst/>
          </a:prstGeom>
          <a:noFill/>
          <a:ln/>
        </p:spPr>
        <p:txBody>
          <a:bodyPr wrap="square" rtlCol="0" anchor="ctr"/>
          <a:lstStyle/>
          <a:p>
            <a:pPr indent="0" marL="0">
              <a:buNone/>
            </a:pPr>
            <a:r>
              <a:rPr lang="en-US" sz="1800" dirty="0">
                <a:solidFill>
                  <a:srgbClr val="9CA3AF"/>
                </a:solidFill>
                <a:latin typeface="Calibri" pitchFamily="34" charset="0"/>
                <a:ea typeface="Calibri" pitchFamily="34" charset="-122"/>
                <a:cs typeface="Calibri" pitchFamily="34" charset="-120"/>
              </a:rPr>
              <a:t>Multi-Agent-Architektur für strukturierte Textextraktion</a:t>
            </a:r>
            <a:endParaRPr lang="en-US" sz="1800" dirty="0"/>
          </a:p>
        </p:txBody>
      </p:sp>
      <p:sp>
        <p:nvSpPr>
          <p:cNvPr id="5" name="Text 3"/>
          <p:cNvSpPr/>
          <p:nvPr/>
        </p:nvSpPr>
        <p:spPr>
          <a:xfrm>
            <a:off x="731520" y="4023360"/>
            <a:ext cx="7680960" cy="365760"/>
          </a:xfrm>
          <a:prstGeom prst="rect">
            <a:avLst/>
          </a:prstGeom>
          <a:noFill/>
          <a:ln/>
        </p:spPr>
        <p:txBody>
          <a:bodyPr wrap="square" rtlCol="0" anchor="ctr"/>
          <a:lstStyle/>
          <a:p>
            <a:pPr indent="0" marL="0">
              <a:buNone/>
            </a:pPr>
            <a:r>
              <a:rPr lang="en-US" sz="1200" dirty="0">
                <a:solidFill>
                  <a:srgbClr val="9CA3AF"/>
                </a:solidFill>
                <a:latin typeface="Calibri" pitchFamily="34" charset="0"/>
                <a:ea typeface="Calibri" pitchFamily="34" charset="-122"/>
                <a:cs typeface="Calibri" pitchFamily="34" charset="-120"/>
              </a:rPr>
              <a:t>VP / SD / GI Schulprojekt  •  Python 3.10+ (stdlib only)  •  SQLite  •  OpenAI API</a:t>
            </a:r>
            <a:endParaRPr lang="en-US" sz="1200" dirty="0"/>
          </a:p>
        </p:txBody>
      </p:sp>
      <p:sp>
        <p:nvSpPr>
          <p:cNvPr id="6" name="Text 4"/>
          <p:cNvSpPr/>
          <p:nvPr/>
        </p:nvSpPr>
        <p:spPr>
          <a:xfrm>
            <a:off x="731520" y="4480560"/>
            <a:ext cx="7680960" cy="274320"/>
          </a:xfrm>
          <a:prstGeom prst="rect">
            <a:avLst/>
          </a:prstGeom>
          <a:noFill/>
          <a:ln/>
        </p:spPr>
        <p:txBody>
          <a:bodyPr wrap="square" rtlCol="0" anchor="ctr"/>
          <a:lstStyle/>
          <a:p>
            <a:pPr indent="0" marL="0">
              <a:buNone/>
            </a:pPr>
            <a:r>
              <a:rPr lang="en-US" sz="1200" dirty="0">
                <a:solidFill>
                  <a:srgbClr val="4F8FE6"/>
                </a:solidFill>
                <a:latin typeface="Calibri" pitchFamily="34" charset="0"/>
                <a:ea typeface="Calibri" pitchFamily="34" charset="-122"/>
                <a:cs typeface="Calibri" pitchFamily="34" charset="-120"/>
              </a:rPr>
              <a:t>Fabio  •  März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D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F8FE6"/>
          </a:solidFill>
          <a:ln/>
        </p:spPr>
      </p:sp>
      <p:sp>
        <p:nvSpPr>
          <p:cNvPr id="3" name="Text 1"/>
          <p:cNvSpPr/>
          <p:nvPr/>
        </p:nvSpPr>
        <p:spPr>
          <a:xfrm>
            <a:off x="731520" y="274320"/>
            <a:ext cx="7680960" cy="548640"/>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Problemstellung &amp; Projektidee</a:t>
            </a:r>
            <a:endParaRPr lang="en-US" sz="2800" dirty="0"/>
          </a:p>
        </p:txBody>
      </p:sp>
      <p:sp>
        <p:nvSpPr>
          <p:cNvPr id="4" name="Shape 2"/>
          <p:cNvSpPr/>
          <p:nvPr/>
        </p:nvSpPr>
        <p:spPr>
          <a:xfrm>
            <a:off x="731520" y="1097280"/>
            <a:ext cx="3657600" cy="3200400"/>
          </a:xfrm>
          <a:prstGeom prst="rect">
            <a:avLst/>
          </a:prstGeom>
          <a:solidFill>
            <a:srgbClr val="2A2D45"/>
          </a:solidFill>
          <a:ln/>
          <a:effectLst>
            <a:outerShdw sx="100000" sy="100000" kx="0" ky="0" algn="bl" rotWithShape="0" blurRad="101600" dist="38100" dir="8100000">
              <a:srgbClr val="000000">
                <a:alpha val="25000"/>
              </a:srgbClr>
            </a:outerShdw>
          </a:effectLst>
        </p:spPr>
      </p:sp>
      <p:sp>
        <p:nvSpPr>
          <p:cNvPr id="5" name="Text 3"/>
          <p:cNvSpPr/>
          <p:nvPr/>
        </p:nvSpPr>
        <p:spPr>
          <a:xfrm>
            <a:off x="1005840" y="1234440"/>
            <a:ext cx="3200400" cy="365760"/>
          </a:xfrm>
          <a:prstGeom prst="rect">
            <a:avLst/>
          </a:prstGeom>
          <a:noFill/>
          <a:ln/>
        </p:spPr>
        <p:txBody>
          <a:bodyPr wrap="square" rtlCol="0" anchor="ctr"/>
          <a:lstStyle/>
          <a:p>
            <a:pPr indent="0" marL="0">
              <a:buNone/>
            </a:pPr>
            <a:r>
              <a:rPr lang="en-US" sz="1600" b="1" dirty="0">
                <a:solidFill>
                  <a:srgbClr val="4F8FE6"/>
                </a:solidFill>
                <a:latin typeface="Trebuchet MS" pitchFamily="34" charset="0"/>
                <a:ea typeface="Trebuchet MS" pitchFamily="34" charset="-122"/>
                <a:cs typeface="Trebuchet MS" pitchFamily="34" charset="-120"/>
              </a:rPr>
              <a:t>Das Problem</a:t>
            </a:r>
            <a:endParaRPr lang="en-US" sz="1600" dirty="0"/>
          </a:p>
        </p:txBody>
      </p:sp>
      <p:sp>
        <p:nvSpPr>
          <p:cNvPr id="6" name="Text 4"/>
          <p:cNvSpPr/>
          <p:nvPr/>
        </p:nvSpPr>
        <p:spPr>
          <a:xfrm>
            <a:off x="1005840" y="1691640"/>
            <a:ext cx="3200400" cy="2377440"/>
          </a:xfrm>
          <a:prstGeom prst="rect">
            <a:avLst/>
          </a:prstGeom>
          <a:noFill/>
          <a:ln/>
        </p:spPr>
        <p:txBody>
          <a:bodyPr wrap="square" rtlCol="0" anchor="t"/>
          <a:lstStyle/>
          <a:p>
            <a:pPr indent="0" marL="0">
              <a:buNone/>
            </a:pPr>
            <a:r>
              <a:rPr lang="en-US" sz="1300" dirty="0">
                <a:solidFill>
                  <a:srgbClr val="F0F2F8"/>
                </a:solidFill>
                <a:latin typeface="Calibri" pitchFamily="34" charset="0"/>
                <a:ea typeface="Calibri" pitchFamily="34" charset="-122"/>
                <a:cs typeface="Calibri" pitchFamily="34" charset="-120"/>
              </a:rPr>
              <a:t>Meeting-Notizen, Anforderungen und Brainstorm-Dumps liegen als unstrukturierter Text vor.</a:t>
            </a:r>
            <a:endParaRPr lang="en-US" sz="1300" dirty="0"/>
          </a:p>
          <a:p>
            <a:pPr indent="0" marL="0">
              <a:buNone/>
            </a:pPr>
            <a:endParaRPr lang="en-US" sz="1300" dirty="0"/>
          </a:p>
          <a:p>
            <a:pPr indent="0" marL="0">
              <a:buNone/>
            </a:pPr>
            <a:r>
              <a:rPr lang="en-US" sz="1300" dirty="0">
                <a:solidFill>
                  <a:srgbClr val="F0F2F8"/>
                </a:solidFill>
                <a:latin typeface="Calibri" pitchFamily="34" charset="0"/>
                <a:ea typeface="Calibri" pitchFamily="34" charset="-122"/>
                <a:cs typeface="Calibri" pitchFamily="34" charset="-120"/>
              </a:rPr>
              <a:t>Manuelle Extraktion von Aufgaben ist zeitaufwendig, fehleranfällig und nicht nachvollziehbar.</a:t>
            </a:r>
            <a:endParaRPr lang="en-US" sz="1300" dirty="0"/>
          </a:p>
          <a:p>
            <a:pPr indent="0" marL="0">
              <a:buNone/>
            </a:pPr>
            <a:endParaRPr lang="en-US" sz="1300" dirty="0"/>
          </a:p>
          <a:p>
            <a:pPr indent="0" marL="0">
              <a:buNone/>
            </a:pPr>
            <a:r>
              <a:rPr lang="en-US" sz="1300" dirty="0">
                <a:solidFill>
                  <a:srgbClr val="F0F2F8"/>
                </a:solidFill>
                <a:latin typeface="Calibri" pitchFamily="34" charset="0"/>
                <a:ea typeface="Calibri" pitchFamily="34" charset="-122"/>
                <a:cs typeface="Calibri" pitchFamily="34" charset="-120"/>
              </a:rPr>
              <a:t>Es gibt keine automatische Qualitätskontrolle der Ergebnisse.</a:t>
            </a:r>
            <a:endParaRPr lang="en-US" sz="1300" dirty="0"/>
          </a:p>
        </p:txBody>
      </p:sp>
      <p:sp>
        <p:nvSpPr>
          <p:cNvPr id="7" name="Shape 5"/>
          <p:cNvSpPr/>
          <p:nvPr/>
        </p:nvSpPr>
        <p:spPr>
          <a:xfrm>
            <a:off x="4754880" y="1097280"/>
            <a:ext cx="3657600" cy="3200400"/>
          </a:xfrm>
          <a:prstGeom prst="rect">
            <a:avLst/>
          </a:prstGeom>
          <a:solidFill>
            <a:srgbClr val="2A2D45"/>
          </a:solidFill>
          <a:ln/>
          <a:effectLst>
            <a:outerShdw sx="100000" sy="100000" kx="0" ky="0" algn="bl" rotWithShape="0" blurRad="101600" dist="38100" dir="8100000">
              <a:srgbClr val="000000">
                <a:alpha val="25000"/>
              </a:srgbClr>
            </a:outerShdw>
          </a:effectLst>
        </p:spPr>
      </p:sp>
      <p:sp>
        <p:nvSpPr>
          <p:cNvPr id="8" name="Text 6"/>
          <p:cNvSpPr/>
          <p:nvPr/>
        </p:nvSpPr>
        <p:spPr>
          <a:xfrm>
            <a:off x="5029200" y="1234440"/>
            <a:ext cx="3200400" cy="365760"/>
          </a:xfrm>
          <a:prstGeom prst="rect">
            <a:avLst/>
          </a:prstGeom>
          <a:noFill/>
          <a:ln/>
        </p:spPr>
        <p:txBody>
          <a:bodyPr wrap="square" rtlCol="0" anchor="ctr"/>
          <a:lstStyle/>
          <a:p>
            <a:pPr indent="0" marL="0">
              <a:buNone/>
            </a:pPr>
            <a:r>
              <a:rPr lang="en-US" sz="1600" b="1" dirty="0">
                <a:solidFill>
                  <a:srgbClr val="2EC4B6"/>
                </a:solidFill>
                <a:latin typeface="Trebuchet MS" pitchFamily="34" charset="0"/>
                <a:ea typeface="Trebuchet MS" pitchFamily="34" charset="-122"/>
                <a:cs typeface="Trebuchet MS" pitchFamily="34" charset="-120"/>
              </a:rPr>
              <a:t>Die Lösung</a:t>
            </a:r>
            <a:endParaRPr lang="en-US" sz="1600" dirty="0"/>
          </a:p>
        </p:txBody>
      </p:sp>
      <p:sp>
        <p:nvSpPr>
          <p:cNvPr id="9" name="Text 7"/>
          <p:cNvSpPr/>
          <p:nvPr/>
        </p:nvSpPr>
        <p:spPr>
          <a:xfrm>
            <a:off x="5029200" y="1691640"/>
            <a:ext cx="3200400" cy="2377440"/>
          </a:xfrm>
          <a:prstGeom prst="rect">
            <a:avLst/>
          </a:prstGeom>
          <a:noFill/>
          <a:ln/>
        </p:spPr>
        <p:txBody>
          <a:bodyPr wrap="square" rtlCol="0" anchor="t"/>
          <a:lstStyle/>
          <a:p>
            <a:pPr indent="0" marL="0">
              <a:buNone/>
            </a:pPr>
            <a:r>
              <a:rPr lang="en-US" sz="1300" dirty="0">
                <a:solidFill>
                  <a:srgbClr val="F0F2F8"/>
                </a:solidFill>
                <a:latin typeface="Calibri" pitchFamily="34" charset="0"/>
                <a:ea typeface="Calibri" pitchFamily="34" charset="-122"/>
                <a:cs typeface="Calibri" pitchFamily="34" charset="-120"/>
              </a:rPr>
              <a:t>Automatisierte Extraktion: LLM-Agenten analysieren Text und erzeugen strukturierte Work Items.</a:t>
            </a:r>
            <a:endParaRPr lang="en-US" sz="1300" dirty="0"/>
          </a:p>
          <a:p>
            <a:pPr indent="0" marL="0">
              <a:buNone/>
            </a:pPr>
            <a:endParaRPr lang="en-US" sz="1300" dirty="0"/>
          </a:p>
          <a:p>
            <a:pPr indent="0" marL="0">
              <a:buNone/>
            </a:pPr>
            <a:r>
              <a:rPr lang="en-US" sz="1300" dirty="0">
                <a:solidFill>
                  <a:srgbClr val="F0F2F8"/>
                </a:solidFill>
                <a:latin typeface="Calibri" pitchFamily="34" charset="0"/>
                <a:ea typeface="Calibri" pitchFamily="34" charset="-122"/>
                <a:cs typeface="Calibri" pitchFamily="34" charset="-120"/>
              </a:rPr>
              <a:t>Spec-Pattern: Jeder Schritt wird durch reine, testbare Spezifikationsfunktionen validiert.</a:t>
            </a:r>
            <a:endParaRPr lang="en-US" sz="1300" dirty="0"/>
          </a:p>
          <a:p>
            <a:pPr indent="0" marL="0">
              <a:buNone/>
            </a:pPr>
            <a:endParaRPr lang="en-US" sz="1300" dirty="0"/>
          </a:p>
          <a:p>
            <a:pPr indent="0" marL="0">
              <a:buNone/>
            </a:pPr>
            <a:r>
              <a:rPr lang="en-US" sz="1300" dirty="0">
                <a:solidFill>
                  <a:srgbClr val="F0F2F8"/>
                </a:solidFill>
                <a:latin typeface="Calibri" pitchFamily="34" charset="0"/>
                <a:ea typeface="Calibri" pitchFamily="34" charset="-122"/>
                <a:cs typeface="Calibri" pitchFamily="34" charset="-120"/>
              </a:rPr>
              <a:t>Vollständiges Tracing: Alle Aktionen und Ergebnisse werden in SQLite protokolliert.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D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F8FE6"/>
          </a:solidFill>
          <a:ln/>
        </p:spPr>
      </p:sp>
      <p:sp>
        <p:nvSpPr>
          <p:cNvPr id="3" name="Text 1"/>
          <p:cNvSpPr/>
          <p:nvPr/>
        </p:nvSpPr>
        <p:spPr>
          <a:xfrm>
            <a:off x="731520" y="274320"/>
            <a:ext cx="7680960" cy="548640"/>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Use-Case-Diagramm</a:t>
            </a:r>
            <a:endParaRPr lang="en-US" sz="2800" dirty="0"/>
          </a:p>
        </p:txBody>
      </p:sp>
      <p:sp>
        <p:nvSpPr>
          <p:cNvPr id="4" name="Shape 2"/>
          <p:cNvSpPr/>
          <p:nvPr/>
        </p:nvSpPr>
        <p:spPr>
          <a:xfrm>
            <a:off x="365760" y="868680"/>
            <a:ext cx="8412480" cy="3977640"/>
          </a:xfrm>
          <a:prstGeom prst="roundRect">
            <a:avLst>
              <a:gd name="adj" fmla="val 3448"/>
            </a:avLst>
          </a:prstGeom>
          <a:solidFill>
            <a:srgbClr val="FFFFFF"/>
          </a:solidFill>
          <a:ln/>
        </p:spPr>
      </p:sp>
      <p:pic>
        <p:nvPicPr>
          <p:cNvPr id="5" name="Image 0" descr="preencoded.png">    </p:cNvPr>
          <p:cNvPicPr>
            <a:picLocks noChangeAspect="1"/>
          </p:cNvPicPr>
          <p:nvPr/>
        </p:nvPicPr>
        <p:blipFill>
          <a:blip r:embed="rId1"/>
          <a:srcRect l="0" r="0" t="0" b="0"/>
          <a:stretch/>
        </p:blipFill>
        <p:spPr>
          <a:xfrm>
            <a:off x="457200" y="914400"/>
            <a:ext cx="8229600" cy="3840480"/>
          </a:xfrm>
          <a:prstGeom prst="rect">
            <a:avLst/>
          </a:prstGeom>
        </p:spPr>
      </p:pic>
      <p:sp>
        <p:nvSpPr>
          <p:cNvPr id="6" name="Text 3"/>
          <p:cNvSpPr/>
          <p:nvPr/>
        </p:nvSpPr>
        <p:spPr>
          <a:xfrm>
            <a:off x="457200" y="4800600"/>
            <a:ext cx="8229600" cy="274320"/>
          </a:xfrm>
          <a:prstGeom prst="rect">
            <a:avLst/>
          </a:prstGeom>
          <a:noFill/>
          <a:ln/>
        </p:spPr>
        <p:txBody>
          <a:bodyPr wrap="square" rtlCol="0" anchor="ctr"/>
          <a:lstStyle/>
          <a:p>
            <a:pPr algn="r" indent="0" marL="0">
              <a:buNone/>
            </a:pPr>
            <a:r>
              <a:rPr lang="en-US" sz="900" i="1" dirty="0">
                <a:solidFill>
                  <a:srgbClr val="9CA3AF"/>
                </a:solidFill>
                <a:latin typeface="Calibri" pitchFamily="34" charset="0"/>
                <a:ea typeface="Calibri" pitchFamily="34" charset="-122"/>
                <a:cs typeface="Calibri" pitchFamily="34" charset="-120"/>
              </a:rPr>
              <a:t>Diagramme in Originalauflösung: siehe docs/presentation/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D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F8FE6"/>
          </a:solidFill>
          <a:ln/>
        </p:spPr>
      </p:sp>
      <p:sp>
        <p:nvSpPr>
          <p:cNvPr id="3" name="Text 1"/>
          <p:cNvSpPr/>
          <p:nvPr/>
        </p:nvSpPr>
        <p:spPr>
          <a:xfrm>
            <a:off x="731520" y="274320"/>
            <a:ext cx="7680960" cy="548640"/>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Tech Stack</a:t>
            </a:r>
            <a:endParaRPr lang="en-US" sz="2800" dirty="0"/>
          </a:p>
        </p:txBody>
      </p:sp>
      <p:sp>
        <p:nvSpPr>
          <p:cNvPr id="4" name="Shape 2"/>
          <p:cNvSpPr/>
          <p:nvPr/>
        </p:nvSpPr>
        <p:spPr>
          <a:xfrm>
            <a:off x="731520" y="1051560"/>
            <a:ext cx="7680960" cy="777240"/>
          </a:xfrm>
          <a:prstGeom prst="rect">
            <a:avLst/>
          </a:prstGeom>
          <a:solidFill>
            <a:srgbClr val="2A2D45"/>
          </a:solidFill>
          <a:ln/>
          <a:effectLst>
            <a:outerShdw sx="100000" sy="100000" kx="0" ky="0" algn="bl" rotWithShape="0" blurRad="101600" dist="38100" dir="8100000">
              <a:srgbClr val="000000">
                <a:alpha val="25000"/>
              </a:srgbClr>
            </a:outerShdw>
          </a:effectLst>
        </p:spPr>
      </p:sp>
      <p:sp>
        <p:nvSpPr>
          <p:cNvPr id="5" name="Shape 3"/>
          <p:cNvSpPr/>
          <p:nvPr/>
        </p:nvSpPr>
        <p:spPr>
          <a:xfrm>
            <a:off x="731520" y="1051560"/>
            <a:ext cx="73152" cy="777240"/>
          </a:xfrm>
          <a:prstGeom prst="rect">
            <a:avLst/>
          </a:prstGeom>
          <a:solidFill>
            <a:srgbClr val="4F8FE6"/>
          </a:solidFill>
          <a:ln/>
        </p:spPr>
      </p:sp>
      <p:sp>
        <p:nvSpPr>
          <p:cNvPr id="6" name="Text 4"/>
          <p:cNvSpPr/>
          <p:nvPr/>
        </p:nvSpPr>
        <p:spPr>
          <a:xfrm>
            <a:off x="1097280" y="1124712"/>
            <a:ext cx="7132320" cy="32004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Python 3.10+</a:t>
            </a:r>
            <a:endParaRPr lang="en-US" sz="1600" dirty="0"/>
          </a:p>
        </p:txBody>
      </p:sp>
      <p:sp>
        <p:nvSpPr>
          <p:cNvPr id="7" name="Text 5"/>
          <p:cNvSpPr/>
          <p:nvPr/>
        </p:nvSpPr>
        <p:spPr>
          <a:xfrm>
            <a:off x="1097280" y="1435608"/>
            <a:ext cx="7132320" cy="32004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Standardbibliothek only — kein pip install nötig</a:t>
            </a:r>
            <a:endParaRPr lang="en-US" sz="1200" dirty="0"/>
          </a:p>
        </p:txBody>
      </p:sp>
      <p:sp>
        <p:nvSpPr>
          <p:cNvPr id="8" name="Shape 6"/>
          <p:cNvSpPr/>
          <p:nvPr/>
        </p:nvSpPr>
        <p:spPr>
          <a:xfrm>
            <a:off x="731520" y="2011680"/>
            <a:ext cx="7680960" cy="777240"/>
          </a:xfrm>
          <a:prstGeom prst="rect">
            <a:avLst/>
          </a:prstGeom>
          <a:solidFill>
            <a:srgbClr val="2A2D45"/>
          </a:solidFill>
          <a:ln/>
          <a:effectLst>
            <a:outerShdw sx="100000" sy="100000" kx="0" ky="0" algn="bl" rotWithShape="0" blurRad="101600" dist="38100" dir="8100000">
              <a:srgbClr val="000000">
                <a:alpha val="25000"/>
              </a:srgbClr>
            </a:outerShdw>
          </a:effectLst>
        </p:spPr>
      </p:sp>
      <p:sp>
        <p:nvSpPr>
          <p:cNvPr id="9" name="Shape 7"/>
          <p:cNvSpPr/>
          <p:nvPr/>
        </p:nvSpPr>
        <p:spPr>
          <a:xfrm>
            <a:off x="731520" y="2011680"/>
            <a:ext cx="73152" cy="777240"/>
          </a:xfrm>
          <a:prstGeom prst="rect">
            <a:avLst/>
          </a:prstGeom>
          <a:solidFill>
            <a:srgbClr val="2EC4B6"/>
          </a:solidFill>
          <a:ln/>
        </p:spPr>
      </p:sp>
      <p:sp>
        <p:nvSpPr>
          <p:cNvPr id="10" name="Text 8"/>
          <p:cNvSpPr/>
          <p:nvPr/>
        </p:nvSpPr>
        <p:spPr>
          <a:xfrm>
            <a:off x="1097280" y="2084832"/>
            <a:ext cx="7132320" cy="32004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SQLite</a:t>
            </a:r>
            <a:endParaRPr lang="en-US" sz="1600" dirty="0"/>
          </a:p>
        </p:txBody>
      </p:sp>
      <p:sp>
        <p:nvSpPr>
          <p:cNvPr id="11" name="Text 9"/>
          <p:cNvSpPr/>
          <p:nvPr/>
        </p:nvSpPr>
        <p:spPr>
          <a:xfrm>
            <a:off x="1097280" y="2395728"/>
            <a:ext cx="7132320" cy="32004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Relationale DB für Execution Traces, 7 Tabellen, FK-Constraints</a:t>
            </a:r>
            <a:endParaRPr lang="en-US" sz="1200" dirty="0"/>
          </a:p>
        </p:txBody>
      </p:sp>
      <p:sp>
        <p:nvSpPr>
          <p:cNvPr id="12" name="Shape 10"/>
          <p:cNvSpPr/>
          <p:nvPr/>
        </p:nvSpPr>
        <p:spPr>
          <a:xfrm>
            <a:off x="731520" y="2971800"/>
            <a:ext cx="7680960" cy="777240"/>
          </a:xfrm>
          <a:prstGeom prst="rect">
            <a:avLst/>
          </a:prstGeom>
          <a:solidFill>
            <a:srgbClr val="2A2D45"/>
          </a:solidFill>
          <a:ln/>
          <a:effectLst>
            <a:outerShdw sx="100000" sy="100000" kx="0" ky="0" algn="bl" rotWithShape="0" blurRad="101600" dist="38100" dir="8100000">
              <a:srgbClr val="000000">
                <a:alpha val="25000"/>
              </a:srgbClr>
            </a:outerShdw>
          </a:effectLst>
        </p:spPr>
      </p:sp>
      <p:sp>
        <p:nvSpPr>
          <p:cNvPr id="13" name="Shape 11"/>
          <p:cNvSpPr/>
          <p:nvPr/>
        </p:nvSpPr>
        <p:spPr>
          <a:xfrm>
            <a:off x="731520" y="2971800"/>
            <a:ext cx="73152" cy="777240"/>
          </a:xfrm>
          <a:prstGeom prst="rect">
            <a:avLst/>
          </a:prstGeom>
          <a:solidFill>
            <a:srgbClr val="C084FC"/>
          </a:solidFill>
          <a:ln/>
        </p:spPr>
      </p:sp>
      <p:sp>
        <p:nvSpPr>
          <p:cNvPr id="14" name="Text 12"/>
          <p:cNvSpPr/>
          <p:nvPr/>
        </p:nvSpPr>
        <p:spPr>
          <a:xfrm>
            <a:off x="1097280" y="3044952"/>
            <a:ext cx="7132320" cy="32004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OpenAI API</a:t>
            </a:r>
            <a:endParaRPr lang="en-US" sz="1600" dirty="0"/>
          </a:p>
        </p:txBody>
      </p:sp>
      <p:sp>
        <p:nvSpPr>
          <p:cNvPr id="15" name="Text 13"/>
          <p:cNvSpPr/>
          <p:nvPr/>
        </p:nvSpPr>
        <p:spPr>
          <a:xfrm>
            <a:off x="1097280" y="3355848"/>
            <a:ext cx="7132320" cy="32004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LLM-powered Extraktion via urllib.request (stdlib)</a:t>
            </a:r>
            <a:endParaRPr lang="en-US" sz="1200" dirty="0"/>
          </a:p>
        </p:txBody>
      </p:sp>
      <p:sp>
        <p:nvSpPr>
          <p:cNvPr id="16" name="Shape 14"/>
          <p:cNvSpPr/>
          <p:nvPr/>
        </p:nvSpPr>
        <p:spPr>
          <a:xfrm>
            <a:off x="731520" y="3931920"/>
            <a:ext cx="7680960" cy="777240"/>
          </a:xfrm>
          <a:prstGeom prst="rect">
            <a:avLst/>
          </a:prstGeom>
          <a:solidFill>
            <a:srgbClr val="2A2D45"/>
          </a:solidFill>
          <a:ln/>
          <a:effectLst>
            <a:outerShdw sx="100000" sy="100000" kx="0" ky="0" algn="bl" rotWithShape="0" blurRad="101600" dist="38100" dir="8100000">
              <a:srgbClr val="000000">
                <a:alpha val="25000"/>
              </a:srgbClr>
            </a:outerShdw>
          </a:effectLst>
        </p:spPr>
      </p:sp>
      <p:sp>
        <p:nvSpPr>
          <p:cNvPr id="17" name="Shape 15"/>
          <p:cNvSpPr/>
          <p:nvPr/>
        </p:nvSpPr>
        <p:spPr>
          <a:xfrm>
            <a:off x="731520" y="3931920"/>
            <a:ext cx="73152" cy="777240"/>
          </a:xfrm>
          <a:prstGeom prst="rect">
            <a:avLst/>
          </a:prstGeom>
          <a:solidFill>
            <a:srgbClr val="6EE7B7"/>
          </a:solidFill>
          <a:ln/>
        </p:spPr>
      </p:sp>
      <p:sp>
        <p:nvSpPr>
          <p:cNvPr id="18" name="Text 16"/>
          <p:cNvSpPr/>
          <p:nvPr/>
        </p:nvSpPr>
        <p:spPr>
          <a:xfrm>
            <a:off x="1097280" y="4005072"/>
            <a:ext cx="7132320" cy="32004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stdlib HTTP Server</a:t>
            </a:r>
            <a:endParaRPr lang="en-US" sz="1600" dirty="0"/>
          </a:p>
        </p:txBody>
      </p:sp>
      <p:sp>
        <p:nvSpPr>
          <p:cNvPr id="19" name="Text 17"/>
          <p:cNvSpPr/>
          <p:nvPr/>
        </p:nvSpPr>
        <p:spPr>
          <a:xfrm>
            <a:off x="1097280" y="4315968"/>
            <a:ext cx="7132320" cy="32004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Web-UI als SPA — kein Framework, kein Deployment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D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F8FE6"/>
          </a:solidFill>
          <a:ln/>
        </p:spPr>
      </p:sp>
      <p:sp>
        <p:nvSpPr>
          <p:cNvPr id="3" name="Text 1"/>
          <p:cNvSpPr/>
          <p:nvPr/>
        </p:nvSpPr>
        <p:spPr>
          <a:xfrm>
            <a:off x="731520" y="274320"/>
            <a:ext cx="7680960" cy="548640"/>
          </a:xfrm>
          <a:prstGeom prst="rect">
            <a:avLst/>
          </a:prstGeom>
          <a:noFill/>
          <a:ln/>
        </p:spPr>
        <p:txBody>
          <a:bodyPr wrap="square"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Software-Architektur: Specification Pattern</a:t>
            </a:r>
            <a:endParaRPr lang="en-US" sz="2600" dirty="0"/>
          </a:p>
        </p:txBody>
      </p:sp>
      <p:sp>
        <p:nvSpPr>
          <p:cNvPr id="4" name="Shape 2"/>
          <p:cNvSpPr/>
          <p:nvPr/>
        </p:nvSpPr>
        <p:spPr>
          <a:xfrm>
            <a:off x="548640" y="1188720"/>
            <a:ext cx="2377440" cy="1097280"/>
          </a:xfrm>
          <a:prstGeom prst="rect">
            <a:avLst/>
          </a:prstGeom>
          <a:solidFill>
            <a:srgbClr val="2A2D45"/>
          </a:solidFill>
          <a:ln/>
          <a:effectLst>
            <a:outerShdw sx="100000" sy="100000" kx="0" ky="0" algn="bl" rotWithShape="0" blurRad="101600" dist="38100" dir="8100000">
              <a:srgbClr val="000000">
                <a:alpha val="25000"/>
              </a:srgbClr>
            </a:outerShdw>
          </a:effectLst>
        </p:spPr>
      </p:sp>
      <p:sp>
        <p:nvSpPr>
          <p:cNvPr id="5" name="Text 3"/>
          <p:cNvSpPr/>
          <p:nvPr/>
        </p:nvSpPr>
        <p:spPr>
          <a:xfrm>
            <a:off x="548640" y="1234440"/>
            <a:ext cx="2377440" cy="502920"/>
          </a:xfrm>
          <a:prstGeom prst="rect">
            <a:avLst/>
          </a:prstGeom>
          <a:noFill/>
          <a:ln/>
        </p:spPr>
        <p:txBody>
          <a:bodyPr wrap="square" lIns="0" tIns="0" rIns="0" bIns="0" rtlCol="0" anchor="ctr"/>
          <a:lstStyle/>
          <a:p>
            <a:pPr algn="ctr" indent="0" marL="0">
              <a:buNone/>
            </a:pPr>
            <a:r>
              <a:rPr lang="en-US" sz="1800" b="1" dirty="0">
                <a:solidFill>
                  <a:srgbClr val="4F8FE6"/>
                </a:solidFill>
                <a:latin typeface="Trebuchet MS" pitchFamily="34" charset="0"/>
                <a:ea typeface="Trebuchet MS" pitchFamily="34" charset="-122"/>
                <a:cs typeface="Trebuchet MS" pitchFamily="34" charset="-120"/>
              </a:rPr>
              <a:t>Intake</a:t>
            </a:r>
            <a:endParaRPr lang="en-US" sz="1800" dirty="0"/>
          </a:p>
        </p:txBody>
      </p:sp>
      <p:sp>
        <p:nvSpPr>
          <p:cNvPr id="6" name="Text 4"/>
          <p:cNvSpPr/>
          <p:nvPr/>
        </p:nvSpPr>
        <p:spPr>
          <a:xfrm>
            <a:off x="548640" y="1691640"/>
            <a:ext cx="2377440" cy="36576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Dateien laden</a:t>
            </a:r>
            <a:endParaRPr lang="en-US" sz="1100" dirty="0"/>
          </a:p>
        </p:txBody>
      </p:sp>
      <p:sp>
        <p:nvSpPr>
          <p:cNvPr id="7" name="Shape 5"/>
          <p:cNvSpPr/>
          <p:nvPr/>
        </p:nvSpPr>
        <p:spPr>
          <a:xfrm>
            <a:off x="3291840" y="1188720"/>
            <a:ext cx="2377440" cy="1097280"/>
          </a:xfrm>
          <a:prstGeom prst="rect">
            <a:avLst/>
          </a:prstGeom>
          <a:solidFill>
            <a:srgbClr val="2A2D45"/>
          </a:solidFill>
          <a:ln/>
          <a:effectLst>
            <a:outerShdw sx="100000" sy="100000" kx="0" ky="0" algn="bl" rotWithShape="0" blurRad="101600" dist="38100" dir="8100000">
              <a:srgbClr val="000000">
                <a:alpha val="25000"/>
              </a:srgbClr>
            </a:outerShdw>
          </a:effectLst>
        </p:spPr>
      </p:sp>
      <p:sp>
        <p:nvSpPr>
          <p:cNvPr id="8" name="Text 6"/>
          <p:cNvSpPr/>
          <p:nvPr/>
        </p:nvSpPr>
        <p:spPr>
          <a:xfrm>
            <a:off x="3291840" y="1234440"/>
            <a:ext cx="2377440" cy="502920"/>
          </a:xfrm>
          <a:prstGeom prst="rect">
            <a:avLst/>
          </a:prstGeom>
          <a:noFill/>
          <a:ln/>
        </p:spPr>
        <p:txBody>
          <a:bodyPr wrap="square" lIns="0" tIns="0" rIns="0" bIns="0" rtlCol="0" anchor="ctr"/>
          <a:lstStyle/>
          <a:p>
            <a:pPr algn="ctr" indent="0" marL="0">
              <a:buNone/>
            </a:pPr>
            <a:r>
              <a:rPr lang="en-US" sz="1800" b="1" dirty="0">
                <a:solidFill>
                  <a:srgbClr val="4F8FE6"/>
                </a:solidFill>
                <a:latin typeface="Trebuchet MS" pitchFamily="34" charset="0"/>
                <a:ea typeface="Trebuchet MS" pitchFamily="34" charset="-122"/>
                <a:cs typeface="Trebuchet MS" pitchFamily="34" charset="-120"/>
              </a:rPr>
              <a:t>Extract</a:t>
            </a:r>
            <a:endParaRPr lang="en-US" sz="1800" dirty="0"/>
          </a:p>
        </p:txBody>
      </p:sp>
      <p:sp>
        <p:nvSpPr>
          <p:cNvPr id="9" name="Text 7"/>
          <p:cNvSpPr/>
          <p:nvPr/>
        </p:nvSpPr>
        <p:spPr>
          <a:xfrm>
            <a:off x="3291840" y="1691640"/>
            <a:ext cx="2377440" cy="36576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LLM-Extraktion</a:t>
            </a:r>
            <a:endParaRPr lang="en-US" sz="1100" dirty="0"/>
          </a:p>
        </p:txBody>
      </p:sp>
      <p:sp>
        <p:nvSpPr>
          <p:cNvPr id="10" name="Shape 8"/>
          <p:cNvSpPr/>
          <p:nvPr/>
        </p:nvSpPr>
        <p:spPr>
          <a:xfrm>
            <a:off x="6035040" y="1188720"/>
            <a:ext cx="2377440" cy="1097280"/>
          </a:xfrm>
          <a:prstGeom prst="rect">
            <a:avLst/>
          </a:prstGeom>
          <a:solidFill>
            <a:srgbClr val="2A2D45"/>
          </a:solidFill>
          <a:ln/>
          <a:effectLst>
            <a:outerShdw sx="100000" sy="100000" kx="0" ky="0" algn="bl" rotWithShape="0" blurRad="101600" dist="38100" dir="8100000">
              <a:srgbClr val="000000">
                <a:alpha val="25000"/>
              </a:srgbClr>
            </a:outerShdw>
          </a:effectLst>
        </p:spPr>
      </p:sp>
      <p:sp>
        <p:nvSpPr>
          <p:cNvPr id="11" name="Text 9"/>
          <p:cNvSpPr/>
          <p:nvPr/>
        </p:nvSpPr>
        <p:spPr>
          <a:xfrm>
            <a:off x="6035040" y="1234440"/>
            <a:ext cx="2377440" cy="502920"/>
          </a:xfrm>
          <a:prstGeom prst="rect">
            <a:avLst/>
          </a:prstGeom>
          <a:noFill/>
          <a:ln/>
        </p:spPr>
        <p:txBody>
          <a:bodyPr wrap="square" lIns="0" tIns="0" rIns="0" bIns="0" rtlCol="0" anchor="ctr"/>
          <a:lstStyle/>
          <a:p>
            <a:pPr algn="ctr" indent="0" marL="0">
              <a:buNone/>
            </a:pPr>
            <a:r>
              <a:rPr lang="en-US" sz="1800" b="1" dirty="0">
                <a:solidFill>
                  <a:srgbClr val="4F8FE6"/>
                </a:solidFill>
                <a:latin typeface="Trebuchet MS" pitchFamily="34" charset="0"/>
                <a:ea typeface="Trebuchet MS" pitchFamily="34" charset="-122"/>
                <a:cs typeface="Trebuchet MS" pitchFamily="34" charset="-120"/>
              </a:rPr>
              <a:t>Write</a:t>
            </a:r>
            <a:endParaRPr lang="en-US" sz="1800" dirty="0"/>
          </a:p>
        </p:txBody>
      </p:sp>
      <p:sp>
        <p:nvSpPr>
          <p:cNvPr id="12" name="Text 10"/>
          <p:cNvSpPr/>
          <p:nvPr/>
        </p:nvSpPr>
        <p:spPr>
          <a:xfrm>
            <a:off x="6035040" y="1691640"/>
            <a:ext cx="2377440" cy="36576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Ergebnisse speichern</a:t>
            </a:r>
            <a:endParaRPr lang="en-US" sz="1100" dirty="0"/>
          </a:p>
        </p:txBody>
      </p:sp>
      <p:sp>
        <p:nvSpPr>
          <p:cNvPr id="13" name="Shape 11"/>
          <p:cNvSpPr/>
          <p:nvPr/>
        </p:nvSpPr>
        <p:spPr>
          <a:xfrm>
            <a:off x="2926080" y="1737360"/>
            <a:ext cx="365760" cy="0"/>
          </a:xfrm>
          <a:prstGeom prst="line">
            <a:avLst/>
          </a:prstGeom>
          <a:noFill/>
          <a:ln w="25400">
            <a:solidFill>
              <a:srgbClr val="4F8FE6"/>
            </a:solidFill>
            <a:prstDash val="solid"/>
          </a:ln>
        </p:spPr>
      </p:sp>
      <p:sp>
        <p:nvSpPr>
          <p:cNvPr id="14" name="Shape 12"/>
          <p:cNvSpPr/>
          <p:nvPr/>
        </p:nvSpPr>
        <p:spPr>
          <a:xfrm>
            <a:off x="5669280" y="1737360"/>
            <a:ext cx="365760" cy="0"/>
          </a:xfrm>
          <a:prstGeom prst="line">
            <a:avLst/>
          </a:prstGeom>
          <a:noFill/>
          <a:ln w="25400">
            <a:solidFill>
              <a:srgbClr val="4F8FE6"/>
            </a:solidFill>
            <a:prstDash val="solid"/>
          </a:ln>
        </p:spPr>
      </p:sp>
      <p:sp>
        <p:nvSpPr>
          <p:cNvPr id="15" name="Shape 13"/>
          <p:cNvSpPr/>
          <p:nvPr/>
        </p:nvSpPr>
        <p:spPr>
          <a:xfrm>
            <a:off x="914400" y="2514600"/>
            <a:ext cx="1280160" cy="365760"/>
          </a:xfrm>
          <a:prstGeom prst="rect">
            <a:avLst/>
          </a:prstGeom>
          <a:solidFill>
            <a:srgbClr val="4F8FE6">
              <a:alpha val="20000"/>
            </a:srgbClr>
          </a:solidFill>
          <a:ln w="6350">
            <a:solidFill>
              <a:srgbClr val="4F8FE6"/>
            </a:solidFill>
            <a:prstDash val="solid"/>
          </a:ln>
        </p:spPr>
      </p:sp>
      <p:sp>
        <p:nvSpPr>
          <p:cNvPr id="16" name="Text 14"/>
          <p:cNvSpPr/>
          <p:nvPr/>
        </p:nvSpPr>
        <p:spPr>
          <a:xfrm>
            <a:off x="914400" y="2514600"/>
            <a:ext cx="1280160" cy="365760"/>
          </a:xfrm>
          <a:prstGeom prst="rect">
            <a:avLst/>
          </a:prstGeom>
          <a:noFill/>
          <a:ln/>
        </p:spPr>
        <p:txBody>
          <a:bodyPr wrap="square" lIns="0" tIns="0" rIns="0" bIns="0" rtlCol="0" anchor="ctr"/>
          <a:lstStyle/>
          <a:p>
            <a:pPr algn="ctr" indent="0" marL="0">
              <a:buNone/>
            </a:pPr>
            <a:r>
              <a:rPr lang="en-US" sz="1000" dirty="0">
                <a:solidFill>
                  <a:srgbClr val="F0F2F8"/>
                </a:solidFill>
                <a:latin typeface="Calibri" pitchFamily="34" charset="0"/>
                <a:ea typeface="Calibri" pitchFamily="34" charset="-122"/>
                <a:cs typeface="Calibri" pitchFamily="34" charset="-120"/>
              </a:rPr>
              <a:t>Pre-Spec</a:t>
            </a:r>
            <a:endParaRPr lang="en-US" sz="1000" dirty="0"/>
          </a:p>
        </p:txBody>
      </p:sp>
      <p:sp>
        <p:nvSpPr>
          <p:cNvPr id="17" name="Shape 15"/>
          <p:cNvSpPr/>
          <p:nvPr/>
        </p:nvSpPr>
        <p:spPr>
          <a:xfrm>
            <a:off x="2560320" y="2514600"/>
            <a:ext cx="1280160" cy="365760"/>
          </a:xfrm>
          <a:prstGeom prst="rect">
            <a:avLst/>
          </a:prstGeom>
          <a:solidFill>
            <a:srgbClr val="2EC4B6">
              <a:alpha val="20000"/>
            </a:srgbClr>
          </a:solidFill>
          <a:ln w="6350">
            <a:solidFill>
              <a:srgbClr val="2EC4B6"/>
            </a:solidFill>
            <a:prstDash val="solid"/>
          </a:ln>
        </p:spPr>
      </p:sp>
      <p:sp>
        <p:nvSpPr>
          <p:cNvPr id="18" name="Text 16"/>
          <p:cNvSpPr/>
          <p:nvPr/>
        </p:nvSpPr>
        <p:spPr>
          <a:xfrm>
            <a:off x="2560320" y="2514600"/>
            <a:ext cx="1280160" cy="365760"/>
          </a:xfrm>
          <a:prstGeom prst="rect">
            <a:avLst/>
          </a:prstGeom>
          <a:noFill/>
          <a:ln/>
        </p:spPr>
        <p:txBody>
          <a:bodyPr wrap="square" lIns="0" tIns="0" rIns="0" bIns="0" rtlCol="0" anchor="ctr"/>
          <a:lstStyle/>
          <a:p>
            <a:pPr algn="ctr" indent="0" marL="0">
              <a:buNone/>
            </a:pPr>
            <a:r>
              <a:rPr lang="en-US" sz="1000" dirty="0">
                <a:solidFill>
                  <a:srgbClr val="F0F2F8"/>
                </a:solidFill>
                <a:latin typeface="Calibri" pitchFamily="34" charset="0"/>
                <a:ea typeface="Calibri" pitchFamily="34" charset="-122"/>
                <a:cs typeface="Calibri" pitchFamily="34" charset="-120"/>
              </a:rPr>
              <a:t>Agent</a:t>
            </a:r>
            <a:endParaRPr lang="en-US" sz="1000" dirty="0"/>
          </a:p>
        </p:txBody>
      </p:sp>
      <p:sp>
        <p:nvSpPr>
          <p:cNvPr id="19" name="Shape 17"/>
          <p:cNvSpPr/>
          <p:nvPr/>
        </p:nvSpPr>
        <p:spPr>
          <a:xfrm>
            <a:off x="4206240" y="2514600"/>
            <a:ext cx="1280160" cy="365760"/>
          </a:xfrm>
          <a:prstGeom prst="rect">
            <a:avLst/>
          </a:prstGeom>
          <a:solidFill>
            <a:srgbClr val="4F8FE6">
              <a:alpha val="20000"/>
            </a:srgbClr>
          </a:solidFill>
          <a:ln w="6350">
            <a:solidFill>
              <a:srgbClr val="4F8FE6"/>
            </a:solidFill>
            <a:prstDash val="solid"/>
          </a:ln>
        </p:spPr>
      </p:sp>
      <p:sp>
        <p:nvSpPr>
          <p:cNvPr id="20" name="Text 18"/>
          <p:cNvSpPr/>
          <p:nvPr/>
        </p:nvSpPr>
        <p:spPr>
          <a:xfrm>
            <a:off x="4206240" y="2514600"/>
            <a:ext cx="1280160" cy="365760"/>
          </a:xfrm>
          <a:prstGeom prst="rect">
            <a:avLst/>
          </a:prstGeom>
          <a:noFill/>
          <a:ln/>
        </p:spPr>
        <p:txBody>
          <a:bodyPr wrap="square" lIns="0" tIns="0" rIns="0" bIns="0" rtlCol="0" anchor="ctr"/>
          <a:lstStyle/>
          <a:p>
            <a:pPr algn="ctr" indent="0" marL="0">
              <a:buNone/>
            </a:pPr>
            <a:r>
              <a:rPr lang="en-US" sz="1000" dirty="0">
                <a:solidFill>
                  <a:srgbClr val="F0F2F8"/>
                </a:solidFill>
                <a:latin typeface="Calibri" pitchFamily="34" charset="0"/>
                <a:ea typeface="Calibri" pitchFamily="34" charset="-122"/>
                <a:cs typeface="Calibri" pitchFamily="34" charset="-120"/>
              </a:rPr>
              <a:t>Post-Spec</a:t>
            </a:r>
            <a:endParaRPr lang="en-US" sz="1000" dirty="0"/>
          </a:p>
        </p:txBody>
      </p:sp>
      <p:sp>
        <p:nvSpPr>
          <p:cNvPr id="21" name="Text 19"/>
          <p:cNvSpPr/>
          <p:nvPr/>
        </p:nvSpPr>
        <p:spPr>
          <a:xfrm>
            <a:off x="548640" y="2532888"/>
            <a:ext cx="457200" cy="320040"/>
          </a:xfrm>
          <a:prstGeom prst="rect">
            <a:avLst/>
          </a:prstGeom>
          <a:noFill/>
          <a:ln/>
        </p:spPr>
        <p:txBody>
          <a:bodyPr wrap="square" lIns="0" tIns="0" rIns="0" bIns="0" rtlCol="0" anchor="ctr"/>
          <a:lstStyle/>
          <a:p>
            <a:pPr indent="0" marL="0">
              <a:buNone/>
            </a:pPr>
            <a:r>
              <a:rPr lang="en-US" sz="800" dirty="0">
                <a:solidFill>
                  <a:srgbClr val="9CA3AF"/>
                </a:solidFill>
                <a:latin typeface="Calibri" pitchFamily="34" charset="0"/>
                <a:ea typeface="Calibri" pitchFamily="34" charset="-122"/>
                <a:cs typeface="Calibri" pitchFamily="34" charset="-120"/>
              </a:rPr>
              <a:t>Jeder Step durchläuft:</a:t>
            </a:r>
            <a:endParaRPr lang="en-US" sz="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3108960"/>
          <a:ext cx="8046720" cy="914400"/>
        </p:xfrm>
        <a:graphic>
          <a:graphicData uri="http://schemas.openxmlformats.org/drawingml/2006/table">
            <a:tbl>
              <a:tblPr/>
              <a:tblGrid>
                <a:gridCol w="1828800"/>
                <a:gridCol w="3657600"/>
                <a:gridCol w="25603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Komponente</a:t>
                      </a:r>
                      <a:endParaRPr lang="en-US" sz="12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4F8FE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Rolle</a:t>
                      </a:r>
                      <a:endParaRPr lang="en-US" sz="12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4F8FE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Eigenschaft</a:t>
                      </a:r>
                      <a:endParaRPr lang="en-US" sz="12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4F8FE6"/>
                    </a:solidFill>
                  </a:tcPr>
                </a:tc>
              </a:tr>
              <a:tr h="0">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Context</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52840"/>
                    </a:solidFill>
                  </a:tcPr>
                </a:tc>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Shared State Container</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52840"/>
                    </a:solidFill>
                  </a:tcPr>
                </a:tc>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Daten (Data only)</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52840"/>
                    </a:solidFill>
                  </a:tcPr>
                </a:tc>
              </a:tr>
              <a:tr h="0">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Specs</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A2D45"/>
                    </a:solidFill>
                  </a:tcPr>
                </a:tc>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Reine Validierungsfunktionen</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A2D45"/>
                    </a:solidFill>
                  </a:tcPr>
                </a:tc>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Pure (kein IO)</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A2D45"/>
                    </a:solidFill>
                  </a:tcPr>
                </a:tc>
              </a:tr>
              <a:tr h="0">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Agents</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52840"/>
                    </a:solidFill>
                  </a:tcPr>
                </a:tc>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IO-Akteure (Dateien, LLM)</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52840"/>
                    </a:solidFill>
                  </a:tcPr>
                </a:tc>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IO erlaubt</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52840"/>
                    </a:solidFill>
                  </a:tcPr>
                </a:tc>
              </a:tr>
              <a:tr h="0">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Manifest</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A2D45"/>
                    </a:solidFill>
                  </a:tcPr>
                </a:tc>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Workflow-Graph als JSON</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A2D45"/>
                    </a:solidFill>
                  </a:tcPr>
                </a:tc>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Daten (kein Code)</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A2D45"/>
                    </a:solidFill>
                  </a:tcPr>
                </a:tc>
              </a:tr>
              <a:tr h="0">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Orchestrator</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52840"/>
                    </a:solidFill>
                  </a:tcPr>
                </a:tc>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Ausführungsschleife</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52840"/>
                    </a:solidFill>
                  </a:tcPr>
                </a:tc>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Koordination</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52840"/>
                    </a:solidFill>
                  </a:tcPr>
                </a:tc>
              </a:tr>
              <a:tr h="0">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Router</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A2D45"/>
                    </a:solidFill>
                  </a:tcPr>
                </a:tc>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Nächsten Step wählen</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A2D45"/>
                    </a:solidFill>
                  </a:tcPr>
                </a:tc>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Logik only</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A2D45"/>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D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F8FE6"/>
          </a:solidFill>
          <a:ln/>
        </p:spPr>
      </p:sp>
      <p:sp>
        <p:nvSpPr>
          <p:cNvPr id="3" name="Text 1"/>
          <p:cNvSpPr/>
          <p:nvPr/>
        </p:nvSpPr>
        <p:spPr>
          <a:xfrm>
            <a:off x="731520" y="274320"/>
            <a:ext cx="7680960" cy="548640"/>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Klassendiagramm</a:t>
            </a:r>
            <a:endParaRPr lang="en-US" sz="2800" dirty="0"/>
          </a:p>
        </p:txBody>
      </p:sp>
      <p:sp>
        <p:nvSpPr>
          <p:cNvPr id="4" name="Shape 2"/>
          <p:cNvSpPr/>
          <p:nvPr/>
        </p:nvSpPr>
        <p:spPr>
          <a:xfrm>
            <a:off x="182880" y="868680"/>
            <a:ext cx="8778240" cy="4069080"/>
          </a:xfrm>
          <a:prstGeom prst="roundRect">
            <a:avLst>
              <a:gd name="adj" fmla="val 3371"/>
            </a:avLst>
          </a:prstGeom>
          <a:solidFill>
            <a:srgbClr val="FFFFFF"/>
          </a:solidFill>
          <a:ln/>
        </p:spPr>
      </p:sp>
      <p:pic>
        <p:nvPicPr>
          <p:cNvPr id="5" name="Image 0" descr="preencoded.png">    </p:cNvPr>
          <p:cNvPicPr>
            <a:picLocks noChangeAspect="1"/>
          </p:cNvPicPr>
          <p:nvPr/>
        </p:nvPicPr>
        <p:blipFill>
          <a:blip r:embed="rId1"/>
          <a:srcRect l="0" r="0" t="0" b="0"/>
          <a:stretch/>
        </p:blipFill>
        <p:spPr>
          <a:xfrm>
            <a:off x="274320" y="914400"/>
            <a:ext cx="8595360" cy="3931920"/>
          </a:xfrm>
          <a:prstGeom prst="rect">
            <a:avLst/>
          </a:prstGeom>
        </p:spPr>
      </p:pic>
      <p:sp>
        <p:nvSpPr>
          <p:cNvPr id="6" name="Text 3"/>
          <p:cNvSpPr/>
          <p:nvPr/>
        </p:nvSpPr>
        <p:spPr>
          <a:xfrm>
            <a:off x="457200" y="4800600"/>
            <a:ext cx="8229600" cy="274320"/>
          </a:xfrm>
          <a:prstGeom prst="rect">
            <a:avLst/>
          </a:prstGeom>
          <a:noFill/>
          <a:ln/>
        </p:spPr>
        <p:txBody>
          <a:bodyPr wrap="square" rtlCol="0" anchor="ctr"/>
          <a:lstStyle/>
          <a:p>
            <a:pPr algn="r" indent="0" marL="0">
              <a:buNone/>
            </a:pPr>
            <a:r>
              <a:rPr lang="en-US" sz="900" i="1" dirty="0">
                <a:solidFill>
                  <a:srgbClr val="9CA3AF"/>
                </a:solidFill>
                <a:latin typeface="Calibri" pitchFamily="34" charset="0"/>
                <a:ea typeface="Calibri" pitchFamily="34" charset="-122"/>
                <a:cs typeface="Calibri" pitchFamily="34" charset="-120"/>
              </a:rPr>
              <a:t>Diagramme in Originalauflösung: siehe docs/presentation/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D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F8FE6"/>
          </a:solidFill>
          <a:ln/>
        </p:spPr>
      </p:sp>
      <p:sp>
        <p:nvSpPr>
          <p:cNvPr id="3" name="Text 1"/>
          <p:cNvSpPr/>
          <p:nvPr/>
        </p:nvSpPr>
        <p:spPr>
          <a:xfrm>
            <a:off x="731520" y="274320"/>
            <a:ext cx="7680960" cy="548640"/>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Benutzeroberfläche: Web-UI</a:t>
            </a:r>
            <a:endParaRPr lang="en-US" sz="2800" dirty="0"/>
          </a:p>
        </p:txBody>
      </p:sp>
      <p:sp>
        <p:nvSpPr>
          <p:cNvPr id="4" name="Shape 2"/>
          <p:cNvSpPr/>
          <p:nvPr/>
        </p:nvSpPr>
        <p:spPr>
          <a:xfrm>
            <a:off x="731520" y="1005840"/>
            <a:ext cx="3657600" cy="777240"/>
          </a:xfrm>
          <a:prstGeom prst="rect">
            <a:avLst/>
          </a:prstGeom>
          <a:solidFill>
            <a:srgbClr val="2A2D45"/>
          </a:solidFill>
          <a:ln/>
          <a:effectLst>
            <a:outerShdw sx="100000" sy="100000" kx="0" ky="0" algn="bl" rotWithShape="0" blurRad="101600" dist="38100" dir="8100000">
              <a:srgbClr val="000000">
                <a:alpha val="25000"/>
              </a:srgbClr>
            </a:outerShdw>
          </a:effectLst>
        </p:spPr>
      </p:sp>
      <p:sp>
        <p:nvSpPr>
          <p:cNvPr id="5" name="Shape 3"/>
          <p:cNvSpPr/>
          <p:nvPr/>
        </p:nvSpPr>
        <p:spPr>
          <a:xfrm>
            <a:off x="731520" y="1005840"/>
            <a:ext cx="54864" cy="777240"/>
          </a:xfrm>
          <a:prstGeom prst="rect">
            <a:avLst/>
          </a:prstGeom>
          <a:solidFill>
            <a:srgbClr val="2EC4B6"/>
          </a:solidFill>
          <a:ln/>
        </p:spPr>
      </p:sp>
      <p:sp>
        <p:nvSpPr>
          <p:cNvPr id="6" name="Text 4"/>
          <p:cNvSpPr/>
          <p:nvPr/>
        </p:nvSpPr>
        <p:spPr>
          <a:xfrm>
            <a:off x="960120" y="1060704"/>
            <a:ext cx="3291840" cy="32004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Dashboard</a:t>
            </a:r>
            <a:endParaRPr lang="en-US" sz="1400" dirty="0"/>
          </a:p>
        </p:txBody>
      </p:sp>
      <p:sp>
        <p:nvSpPr>
          <p:cNvPr id="7" name="Text 5"/>
          <p:cNvSpPr/>
          <p:nvPr/>
        </p:nvSpPr>
        <p:spPr>
          <a:xfrm>
            <a:off x="960120" y="1389888"/>
            <a:ext cx="3291840" cy="32004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Flow-Diagramm des letzten Laufs mit klickbaren Steps</a:t>
            </a:r>
            <a:endParaRPr lang="en-US" sz="1000" dirty="0"/>
          </a:p>
        </p:txBody>
      </p:sp>
      <p:sp>
        <p:nvSpPr>
          <p:cNvPr id="8" name="Shape 6"/>
          <p:cNvSpPr/>
          <p:nvPr/>
        </p:nvSpPr>
        <p:spPr>
          <a:xfrm>
            <a:off x="731520" y="1965960"/>
            <a:ext cx="3657600" cy="777240"/>
          </a:xfrm>
          <a:prstGeom prst="rect">
            <a:avLst/>
          </a:prstGeom>
          <a:solidFill>
            <a:srgbClr val="2A2D45"/>
          </a:solidFill>
          <a:ln/>
          <a:effectLst>
            <a:outerShdw sx="100000" sy="100000" kx="0" ky="0" algn="bl" rotWithShape="0" blurRad="101600" dist="38100" dir="8100000">
              <a:srgbClr val="000000">
                <a:alpha val="25000"/>
              </a:srgbClr>
            </a:outerShdw>
          </a:effectLst>
        </p:spPr>
      </p:sp>
      <p:sp>
        <p:nvSpPr>
          <p:cNvPr id="9" name="Shape 7"/>
          <p:cNvSpPr/>
          <p:nvPr/>
        </p:nvSpPr>
        <p:spPr>
          <a:xfrm>
            <a:off x="731520" y="1965960"/>
            <a:ext cx="54864" cy="777240"/>
          </a:xfrm>
          <a:prstGeom prst="rect">
            <a:avLst/>
          </a:prstGeom>
          <a:solidFill>
            <a:srgbClr val="2EC4B6"/>
          </a:solidFill>
          <a:ln/>
        </p:spPr>
      </p:sp>
      <p:sp>
        <p:nvSpPr>
          <p:cNvPr id="10" name="Text 8"/>
          <p:cNvSpPr/>
          <p:nvPr/>
        </p:nvSpPr>
        <p:spPr>
          <a:xfrm>
            <a:off x="960120" y="2020824"/>
            <a:ext cx="3291840" cy="32004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Run Workflow</a:t>
            </a:r>
            <a:endParaRPr lang="en-US" sz="1400" dirty="0"/>
          </a:p>
        </p:txBody>
      </p:sp>
      <p:sp>
        <p:nvSpPr>
          <p:cNvPr id="11" name="Text 9"/>
          <p:cNvSpPr/>
          <p:nvPr/>
        </p:nvSpPr>
        <p:spPr>
          <a:xfrm>
            <a:off x="960120" y="2350008"/>
            <a:ext cx="3291840" cy="32004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Konfiguration und Ausführung mit Live-Fortschritt</a:t>
            </a:r>
            <a:endParaRPr lang="en-US" sz="1000" dirty="0"/>
          </a:p>
        </p:txBody>
      </p:sp>
      <p:sp>
        <p:nvSpPr>
          <p:cNvPr id="12" name="Shape 10"/>
          <p:cNvSpPr/>
          <p:nvPr/>
        </p:nvSpPr>
        <p:spPr>
          <a:xfrm>
            <a:off x="731520" y="2926080"/>
            <a:ext cx="3657600" cy="777240"/>
          </a:xfrm>
          <a:prstGeom prst="rect">
            <a:avLst/>
          </a:prstGeom>
          <a:solidFill>
            <a:srgbClr val="2A2D45"/>
          </a:solidFill>
          <a:ln/>
          <a:effectLst>
            <a:outerShdw sx="100000" sy="100000" kx="0" ky="0" algn="bl" rotWithShape="0" blurRad="101600" dist="38100" dir="8100000">
              <a:srgbClr val="000000">
                <a:alpha val="25000"/>
              </a:srgbClr>
            </a:outerShdw>
          </a:effectLst>
        </p:spPr>
      </p:sp>
      <p:sp>
        <p:nvSpPr>
          <p:cNvPr id="13" name="Shape 11"/>
          <p:cNvSpPr/>
          <p:nvPr/>
        </p:nvSpPr>
        <p:spPr>
          <a:xfrm>
            <a:off x="731520" y="2926080"/>
            <a:ext cx="54864" cy="777240"/>
          </a:xfrm>
          <a:prstGeom prst="rect">
            <a:avLst/>
          </a:prstGeom>
          <a:solidFill>
            <a:srgbClr val="2EC4B6"/>
          </a:solidFill>
          <a:ln/>
        </p:spPr>
      </p:sp>
      <p:sp>
        <p:nvSpPr>
          <p:cNvPr id="14" name="Text 12"/>
          <p:cNvSpPr/>
          <p:nvPr/>
        </p:nvSpPr>
        <p:spPr>
          <a:xfrm>
            <a:off x="960120" y="2980944"/>
            <a:ext cx="3291840" cy="32004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Run Detail</a:t>
            </a:r>
            <a:endParaRPr lang="en-US" sz="1400" dirty="0"/>
          </a:p>
        </p:txBody>
      </p:sp>
      <p:sp>
        <p:nvSpPr>
          <p:cNvPr id="15" name="Text 13"/>
          <p:cNvSpPr/>
          <p:nvPr/>
        </p:nvSpPr>
        <p:spPr>
          <a:xfrm>
            <a:off x="960120" y="3310128"/>
            <a:ext cx="3291840" cy="32004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Tiefenanalyse: Specs, Traces, Context-Diffs</a:t>
            </a:r>
            <a:endParaRPr lang="en-US" sz="1000" dirty="0"/>
          </a:p>
        </p:txBody>
      </p:sp>
      <p:sp>
        <p:nvSpPr>
          <p:cNvPr id="16" name="Shape 14"/>
          <p:cNvSpPr/>
          <p:nvPr/>
        </p:nvSpPr>
        <p:spPr>
          <a:xfrm>
            <a:off x="731520" y="3886200"/>
            <a:ext cx="3657600" cy="777240"/>
          </a:xfrm>
          <a:prstGeom prst="rect">
            <a:avLst/>
          </a:prstGeom>
          <a:solidFill>
            <a:srgbClr val="2A2D45"/>
          </a:solidFill>
          <a:ln/>
          <a:effectLst>
            <a:outerShdw sx="100000" sy="100000" kx="0" ky="0" algn="bl" rotWithShape="0" blurRad="101600" dist="38100" dir="8100000">
              <a:srgbClr val="000000">
                <a:alpha val="25000"/>
              </a:srgbClr>
            </a:outerShdw>
          </a:effectLst>
        </p:spPr>
      </p:sp>
      <p:sp>
        <p:nvSpPr>
          <p:cNvPr id="17" name="Shape 15"/>
          <p:cNvSpPr/>
          <p:nvPr/>
        </p:nvSpPr>
        <p:spPr>
          <a:xfrm>
            <a:off x="731520" y="3886200"/>
            <a:ext cx="54864" cy="777240"/>
          </a:xfrm>
          <a:prstGeom prst="rect">
            <a:avLst/>
          </a:prstGeom>
          <a:solidFill>
            <a:srgbClr val="2EC4B6"/>
          </a:solidFill>
          <a:ln/>
        </p:spPr>
      </p:sp>
      <p:sp>
        <p:nvSpPr>
          <p:cNvPr id="18" name="Text 16"/>
          <p:cNvSpPr/>
          <p:nvPr/>
        </p:nvSpPr>
        <p:spPr>
          <a:xfrm>
            <a:off x="960120" y="3941064"/>
            <a:ext cx="3291840" cy="32004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Items Browser</a:t>
            </a:r>
            <a:endParaRPr lang="en-US" sz="1400" dirty="0"/>
          </a:p>
        </p:txBody>
      </p:sp>
      <p:sp>
        <p:nvSpPr>
          <p:cNvPr id="19" name="Text 17"/>
          <p:cNvSpPr/>
          <p:nvPr/>
        </p:nvSpPr>
        <p:spPr>
          <a:xfrm>
            <a:off x="960120" y="4270248"/>
            <a:ext cx="3291840" cy="32004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Alle extrahierten Items filtern und durchsuchen</a:t>
            </a:r>
            <a:endParaRPr lang="en-US" sz="1000" dirty="0"/>
          </a:p>
        </p:txBody>
      </p:sp>
      <p:sp>
        <p:nvSpPr>
          <p:cNvPr id="20" name="Shape 18"/>
          <p:cNvSpPr/>
          <p:nvPr/>
        </p:nvSpPr>
        <p:spPr>
          <a:xfrm>
            <a:off x="4754880" y="1005840"/>
            <a:ext cx="3657600" cy="777240"/>
          </a:xfrm>
          <a:prstGeom prst="rect">
            <a:avLst/>
          </a:prstGeom>
          <a:solidFill>
            <a:srgbClr val="2A2D45"/>
          </a:solidFill>
          <a:ln/>
          <a:effectLst>
            <a:outerShdw sx="100000" sy="100000" kx="0" ky="0" algn="bl" rotWithShape="0" blurRad="101600" dist="38100" dir="8100000">
              <a:srgbClr val="000000">
                <a:alpha val="25000"/>
              </a:srgbClr>
            </a:outerShdw>
          </a:effectLst>
        </p:spPr>
      </p:sp>
      <p:sp>
        <p:nvSpPr>
          <p:cNvPr id="21" name="Shape 19"/>
          <p:cNvSpPr/>
          <p:nvPr/>
        </p:nvSpPr>
        <p:spPr>
          <a:xfrm>
            <a:off x="4754880" y="1005840"/>
            <a:ext cx="54864" cy="777240"/>
          </a:xfrm>
          <a:prstGeom prst="rect">
            <a:avLst/>
          </a:prstGeom>
          <a:solidFill>
            <a:srgbClr val="2EC4B6"/>
          </a:solidFill>
          <a:ln/>
        </p:spPr>
      </p:sp>
      <p:sp>
        <p:nvSpPr>
          <p:cNvPr id="22" name="Text 20"/>
          <p:cNvSpPr/>
          <p:nvPr/>
        </p:nvSpPr>
        <p:spPr>
          <a:xfrm>
            <a:off x="4983480" y="1060704"/>
            <a:ext cx="3291840" cy="32004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Settings</a:t>
            </a:r>
            <a:endParaRPr lang="en-US" sz="1400" dirty="0"/>
          </a:p>
        </p:txBody>
      </p:sp>
      <p:sp>
        <p:nvSpPr>
          <p:cNvPr id="23" name="Text 21"/>
          <p:cNvSpPr/>
          <p:nvPr/>
        </p:nvSpPr>
        <p:spPr>
          <a:xfrm>
            <a:off x="4983480" y="1389888"/>
            <a:ext cx="3291840" cy="32004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API-Key, Modell, Input/Output-Ordner, Provider</a:t>
            </a:r>
            <a:endParaRPr lang="en-US" sz="1000" dirty="0"/>
          </a:p>
        </p:txBody>
      </p:sp>
      <p:sp>
        <p:nvSpPr>
          <p:cNvPr id="24" name="Shape 22"/>
          <p:cNvSpPr/>
          <p:nvPr/>
        </p:nvSpPr>
        <p:spPr>
          <a:xfrm>
            <a:off x="4754880" y="1965960"/>
            <a:ext cx="3657600" cy="777240"/>
          </a:xfrm>
          <a:prstGeom prst="rect">
            <a:avLst/>
          </a:prstGeom>
          <a:solidFill>
            <a:srgbClr val="2A2D45"/>
          </a:solidFill>
          <a:ln/>
          <a:effectLst>
            <a:outerShdw sx="100000" sy="100000" kx="0" ky="0" algn="bl" rotWithShape="0" blurRad="101600" dist="38100" dir="8100000">
              <a:srgbClr val="000000">
                <a:alpha val="25000"/>
              </a:srgbClr>
            </a:outerShdw>
          </a:effectLst>
        </p:spPr>
      </p:sp>
      <p:sp>
        <p:nvSpPr>
          <p:cNvPr id="25" name="Shape 23"/>
          <p:cNvSpPr/>
          <p:nvPr/>
        </p:nvSpPr>
        <p:spPr>
          <a:xfrm>
            <a:off x="4754880" y="1965960"/>
            <a:ext cx="54864" cy="777240"/>
          </a:xfrm>
          <a:prstGeom prst="rect">
            <a:avLst/>
          </a:prstGeom>
          <a:solidFill>
            <a:srgbClr val="2EC4B6"/>
          </a:solidFill>
          <a:ln/>
        </p:spPr>
      </p:sp>
      <p:sp>
        <p:nvSpPr>
          <p:cNvPr id="26" name="Text 24"/>
          <p:cNvSpPr/>
          <p:nvPr/>
        </p:nvSpPr>
        <p:spPr>
          <a:xfrm>
            <a:off x="4983480" y="2020824"/>
            <a:ext cx="3291840" cy="32004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Architecture</a:t>
            </a:r>
            <a:endParaRPr lang="en-US" sz="1400" dirty="0"/>
          </a:p>
        </p:txBody>
      </p:sp>
      <p:sp>
        <p:nvSpPr>
          <p:cNvPr id="27" name="Text 25"/>
          <p:cNvSpPr/>
          <p:nvPr/>
        </p:nvSpPr>
        <p:spPr>
          <a:xfrm>
            <a:off x="4983480" y="2350008"/>
            <a:ext cx="3291840" cy="32004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Architektur-Explainer mit Code-Beispielen</a:t>
            </a:r>
            <a:endParaRPr lang="en-US" sz="1000" dirty="0"/>
          </a:p>
        </p:txBody>
      </p:sp>
      <p:sp>
        <p:nvSpPr>
          <p:cNvPr id="28" name="Shape 26"/>
          <p:cNvSpPr/>
          <p:nvPr/>
        </p:nvSpPr>
        <p:spPr>
          <a:xfrm>
            <a:off x="4754880" y="2926080"/>
            <a:ext cx="3657600" cy="777240"/>
          </a:xfrm>
          <a:prstGeom prst="rect">
            <a:avLst/>
          </a:prstGeom>
          <a:solidFill>
            <a:srgbClr val="2A2D45"/>
          </a:solidFill>
          <a:ln/>
          <a:effectLst>
            <a:outerShdw sx="100000" sy="100000" kx="0" ky="0" algn="bl" rotWithShape="0" blurRad="101600" dist="38100" dir="8100000">
              <a:srgbClr val="000000">
                <a:alpha val="25000"/>
              </a:srgbClr>
            </a:outerShdw>
          </a:effectLst>
        </p:spPr>
      </p:sp>
      <p:sp>
        <p:nvSpPr>
          <p:cNvPr id="29" name="Shape 27"/>
          <p:cNvSpPr/>
          <p:nvPr/>
        </p:nvSpPr>
        <p:spPr>
          <a:xfrm>
            <a:off x="4754880" y="2926080"/>
            <a:ext cx="54864" cy="777240"/>
          </a:xfrm>
          <a:prstGeom prst="rect">
            <a:avLst/>
          </a:prstGeom>
          <a:solidFill>
            <a:srgbClr val="2EC4B6"/>
          </a:solidFill>
          <a:ln/>
        </p:spPr>
      </p:sp>
      <p:sp>
        <p:nvSpPr>
          <p:cNvPr id="30" name="Text 28"/>
          <p:cNvSpPr/>
          <p:nvPr/>
        </p:nvSpPr>
        <p:spPr>
          <a:xfrm>
            <a:off x="4983480" y="2980944"/>
            <a:ext cx="3291840" cy="32004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Manifest</a:t>
            </a:r>
            <a:endParaRPr lang="en-US" sz="1400" dirty="0"/>
          </a:p>
        </p:txBody>
      </p:sp>
      <p:sp>
        <p:nvSpPr>
          <p:cNvPr id="31" name="Text 29"/>
          <p:cNvSpPr/>
          <p:nvPr/>
        </p:nvSpPr>
        <p:spPr>
          <a:xfrm>
            <a:off x="4983480" y="3310128"/>
            <a:ext cx="3291840" cy="32004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Aktive Workflow-Definition + Spec-Registry</a:t>
            </a:r>
            <a:endParaRPr lang="en-US" sz="1000" dirty="0"/>
          </a:p>
        </p:txBody>
      </p:sp>
      <p:sp>
        <p:nvSpPr>
          <p:cNvPr id="32" name="Shape 30"/>
          <p:cNvSpPr/>
          <p:nvPr/>
        </p:nvSpPr>
        <p:spPr>
          <a:xfrm>
            <a:off x="4754880" y="3886200"/>
            <a:ext cx="3657600" cy="777240"/>
          </a:xfrm>
          <a:prstGeom prst="rect">
            <a:avLst/>
          </a:prstGeom>
          <a:solidFill>
            <a:srgbClr val="2A2D45"/>
          </a:solidFill>
          <a:ln/>
          <a:effectLst>
            <a:outerShdw sx="100000" sy="100000" kx="0" ky="0" algn="bl" rotWithShape="0" blurRad="101600" dist="38100" dir="8100000">
              <a:srgbClr val="000000">
                <a:alpha val="25000"/>
              </a:srgbClr>
            </a:outerShdw>
          </a:effectLst>
        </p:spPr>
      </p:sp>
      <p:sp>
        <p:nvSpPr>
          <p:cNvPr id="33" name="Shape 31"/>
          <p:cNvSpPr/>
          <p:nvPr/>
        </p:nvSpPr>
        <p:spPr>
          <a:xfrm>
            <a:off x="4754880" y="3886200"/>
            <a:ext cx="54864" cy="777240"/>
          </a:xfrm>
          <a:prstGeom prst="rect">
            <a:avLst/>
          </a:prstGeom>
          <a:solidFill>
            <a:srgbClr val="2EC4B6"/>
          </a:solidFill>
          <a:ln/>
        </p:spPr>
      </p:sp>
      <p:sp>
        <p:nvSpPr>
          <p:cNvPr id="34" name="Text 32"/>
          <p:cNvSpPr/>
          <p:nvPr/>
        </p:nvSpPr>
        <p:spPr>
          <a:xfrm>
            <a:off x="4983480" y="3941064"/>
            <a:ext cx="3291840" cy="320040"/>
          </a:xfrm>
          <a:prstGeom prst="rect">
            <a:avLst/>
          </a:prstGeom>
          <a:noFill/>
          <a:ln/>
        </p:spPr>
        <p:txBody>
          <a:bodyPr wrap="square" lIns="0" tIns="0" rIns="0" bIns="0" rtlCol="0" anchor="ctr"/>
          <a:lstStyle/>
          <a:p>
            <a:pPr indent="0" marL="0">
              <a:buNone/>
            </a:pPr>
            <a:r>
              <a:rPr lang="en-US" sz="1400" b="1" dirty="0">
                <a:solidFill>
                  <a:srgbClr val="FFFFFF"/>
                </a:solidFill>
                <a:latin typeface="Trebuchet MS" pitchFamily="34" charset="0"/>
                <a:ea typeface="Trebuchet MS" pitchFamily="34" charset="-122"/>
                <a:cs typeface="Trebuchet MS" pitchFamily="34" charset="-120"/>
              </a:rPr>
              <a:t>User Guide</a:t>
            </a:r>
            <a:endParaRPr lang="en-US" sz="1400" dirty="0"/>
          </a:p>
        </p:txBody>
      </p:sp>
      <p:sp>
        <p:nvSpPr>
          <p:cNvPr id="35" name="Text 33"/>
          <p:cNvSpPr/>
          <p:nvPr/>
        </p:nvSpPr>
        <p:spPr>
          <a:xfrm>
            <a:off x="4983480" y="4270248"/>
            <a:ext cx="3291840" cy="320040"/>
          </a:xfrm>
          <a:prstGeom prst="rect">
            <a:avLst/>
          </a:prstGeom>
          <a:noFill/>
          <a:ln/>
        </p:spPr>
        <p:txBody>
          <a:bodyPr wrap="square" lIns="0" tIns="0" rIns="0" bIns="0" rtlCol="0" anchor="ctr"/>
          <a:lstStyle/>
          <a:p>
            <a:pPr indent="0" marL="0">
              <a:buNone/>
            </a:pPr>
            <a:r>
              <a:rPr lang="en-US" sz="1000" dirty="0">
                <a:solidFill>
                  <a:srgbClr val="9CA3AF"/>
                </a:solidFill>
                <a:latin typeface="Calibri" pitchFamily="34" charset="0"/>
                <a:ea typeface="Calibri" pitchFamily="34" charset="-122"/>
                <a:cs typeface="Calibri" pitchFamily="34" charset="-120"/>
              </a:rPr>
              <a:t>Schritt-für-Schritt-Anleitung mit Troubleshooting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D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F8FE6"/>
          </a:solidFill>
          <a:ln/>
        </p:spPr>
      </p:sp>
      <p:sp>
        <p:nvSpPr>
          <p:cNvPr id="3" name="Text 1"/>
          <p:cNvSpPr/>
          <p:nvPr/>
        </p:nvSpPr>
        <p:spPr>
          <a:xfrm>
            <a:off x="731520" y="274320"/>
            <a:ext cx="7680960" cy="548640"/>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Datenbankmodell (3. Normalform)</a:t>
            </a:r>
            <a:endParaRPr lang="en-US" sz="2800" dirty="0"/>
          </a:p>
        </p:txBody>
      </p:sp>
      <p:sp>
        <p:nvSpPr>
          <p:cNvPr id="4" name="Shape 2"/>
          <p:cNvSpPr/>
          <p:nvPr/>
        </p:nvSpPr>
        <p:spPr>
          <a:xfrm>
            <a:off x="182880" y="868680"/>
            <a:ext cx="8778240" cy="3977640"/>
          </a:xfrm>
          <a:prstGeom prst="roundRect">
            <a:avLst>
              <a:gd name="adj" fmla="val 3448"/>
            </a:avLst>
          </a:prstGeom>
          <a:solidFill>
            <a:srgbClr val="FFFFFF"/>
          </a:solidFill>
          <a:ln/>
        </p:spPr>
      </p:sp>
      <p:pic>
        <p:nvPicPr>
          <p:cNvPr id="5" name="Image 0" descr="preencoded.png">    </p:cNvPr>
          <p:cNvPicPr>
            <a:picLocks noChangeAspect="1"/>
          </p:cNvPicPr>
          <p:nvPr/>
        </p:nvPicPr>
        <p:blipFill>
          <a:blip r:embed="rId1"/>
          <a:srcRect l="0" r="0" t="0" b="0"/>
          <a:stretch/>
        </p:blipFill>
        <p:spPr>
          <a:xfrm>
            <a:off x="274320" y="914400"/>
            <a:ext cx="8595360" cy="3840480"/>
          </a:xfrm>
          <a:prstGeom prst="rect">
            <a:avLst/>
          </a:prstGeom>
        </p:spPr>
      </p:pic>
      <p:sp>
        <p:nvSpPr>
          <p:cNvPr id="6" name="Text 3"/>
          <p:cNvSpPr/>
          <p:nvPr/>
        </p:nvSpPr>
        <p:spPr>
          <a:xfrm>
            <a:off x="457200" y="4800600"/>
            <a:ext cx="8229600" cy="274320"/>
          </a:xfrm>
          <a:prstGeom prst="rect">
            <a:avLst/>
          </a:prstGeom>
          <a:noFill/>
          <a:ln/>
        </p:spPr>
        <p:txBody>
          <a:bodyPr wrap="square" rtlCol="0" anchor="ctr"/>
          <a:lstStyle/>
          <a:p>
            <a:pPr algn="r" indent="0" marL="0">
              <a:buNone/>
            </a:pPr>
            <a:r>
              <a:rPr lang="en-US" sz="900" i="1" dirty="0">
                <a:solidFill>
                  <a:srgbClr val="9CA3AF"/>
                </a:solidFill>
                <a:latin typeface="Calibri" pitchFamily="34" charset="0"/>
                <a:ea typeface="Calibri" pitchFamily="34" charset="-122"/>
                <a:cs typeface="Calibri" pitchFamily="34" charset="-120"/>
              </a:rPr>
              <a:t>Diagramme in Originalauflösung: siehe docs/presentation/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D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F8FE6"/>
          </a:solidFill>
          <a:ln/>
        </p:spPr>
      </p:sp>
      <p:sp>
        <p:nvSpPr>
          <p:cNvPr id="3" name="Text 1"/>
          <p:cNvSpPr/>
          <p:nvPr/>
        </p:nvSpPr>
        <p:spPr>
          <a:xfrm>
            <a:off x="731520" y="274320"/>
            <a:ext cx="7680960" cy="548640"/>
          </a:xfrm>
          <a:prstGeom prst="rect">
            <a:avLst/>
          </a:prstGeom>
          <a:noFill/>
          <a:ln/>
        </p:spPr>
        <p:txBody>
          <a:bodyPr wrap="square"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Code Highlight: Pure Spec Function</a:t>
            </a:r>
            <a:endParaRPr lang="en-US" sz="2600" dirty="0"/>
          </a:p>
        </p:txBody>
      </p:sp>
      <p:sp>
        <p:nvSpPr>
          <p:cNvPr id="4" name="Shape 2"/>
          <p:cNvSpPr/>
          <p:nvPr/>
        </p:nvSpPr>
        <p:spPr>
          <a:xfrm>
            <a:off x="548640" y="1005840"/>
            <a:ext cx="8046720" cy="2926080"/>
          </a:xfrm>
          <a:prstGeom prst="rect">
            <a:avLst/>
          </a:prstGeom>
          <a:solidFill>
            <a:srgbClr val="1E1E2E"/>
          </a:solidFill>
          <a:ln/>
          <a:effectLst>
            <a:outerShdw sx="100000" sy="100000" kx="0" ky="0" algn="bl" rotWithShape="0" blurRad="101600" dist="38100" dir="8100000">
              <a:srgbClr val="000000">
                <a:alpha val="25000"/>
              </a:srgbClr>
            </a:outerShdw>
          </a:effectLst>
        </p:spPr>
      </p:sp>
      <p:sp>
        <p:nvSpPr>
          <p:cNvPr id="5" name="Text 3"/>
          <p:cNvSpPr/>
          <p:nvPr/>
        </p:nvSpPr>
        <p:spPr>
          <a:xfrm>
            <a:off x="822960" y="1097280"/>
            <a:ext cx="7498080" cy="2743200"/>
          </a:xfrm>
          <a:prstGeom prst="rect">
            <a:avLst/>
          </a:prstGeom>
          <a:noFill/>
          <a:ln/>
        </p:spPr>
        <p:txBody>
          <a:bodyPr wrap="square" rtlCol="0" anchor="t"/>
          <a:lstStyle/>
          <a:p>
            <a:pPr indent="0" marL="0">
              <a:buNone/>
            </a:pPr>
            <a:r>
              <a:rPr lang="en-US" sz="1200" dirty="0">
                <a:solidFill>
                  <a:srgbClr val="C084FC"/>
                </a:solidFill>
                <a:latin typeface="Consolas" pitchFamily="34" charset="0"/>
                <a:ea typeface="Consolas" pitchFamily="34" charset="-122"/>
                <a:cs typeface="Consolas" pitchFamily="34" charset="-120"/>
              </a:rPr>
              <a:t>@register_spec</a:t>
            </a:r>
            <a:endParaRPr lang="en-US" sz="1200" dirty="0"/>
          </a:p>
          <a:p>
            <a:pPr indent="0" marL="0">
              <a:buNone/>
            </a:pPr>
            <a:r>
              <a:rPr lang="en-US" sz="1200" dirty="0">
                <a:solidFill>
                  <a:srgbClr val="6EE7B7"/>
                </a:solidFill>
                <a:latin typeface="Consolas" pitchFamily="34" charset="0"/>
                <a:ea typeface="Consolas" pitchFamily="34" charset="-122"/>
                <a:cs typeface="Consolas" pitchFamily="34" charset="-120"/>
              </a:rPr>
              <a:t>def extract_post(context: Context) -&gt; SpecResult:</a:t>
            </a:r>
            <a:endParaRPr lang="en-US" sz="1200" dirty="0"/>
          </a:p>
          <a:p>
            <a:pPr indent="0" marL="0">
              <a:buNone/>
            </a:pPr>
            <a:r>
              <a:rPr lang="en-US" sz="1100" dirty="0">
                <a:solidFill>
                  <a:srgbClr val="6A9955"/>
                </a:solidFill>
                <a:latin typeface="Consolas" pitchFamily="34" charset="0"/>
                <a:ea typeface="Consolas" pitchFamily="34" charset="-122"/>
                <a:cs typeface="Consolas" pitchFamily="34" charset="-120"/>
              </a:rPr>
              <a:t>    """Post-condition: items must be non-empty, each with a title."""</a:t>
            </a:r>
            <a:endParaRPr lang="en-US" sz="1200" dirty="0"/>
          </a:p>
          <a:p>
            <a:pPr indent="0" marL="0">
              <a:buNone/>
            </a:pPr>
            <a:r>
              <a:rPr lang="en-US" sz="1100" dirty="0">
                <a:solidFill>
                  <a:srgbClr val="F0F2F8"/>
                </a:solidFill>
                <a:latin typeface="Consolas" pitchFamily="34" charset="0"/>
                <a:ea typeface="Consolas" pitchFamily="34" charset="-122"/>
                <a:cs typeface="Consolas" pitchFamily="34" charset="-120"/>
              </a:rPr>
              <a:t>    items = context.data.get("extracted_items", [])</a:t>
            </a:r>
            <a:endParaRPr lang="en-US" sz="1200" dirty="0"/>
          </a:p>
          <a:p>
            <a:pPr indent="0" marL="0">
              <a:buNone/>
            </a:pPr>
            <a:r>
              <a:rPr lang="en-US" sz="1100" dirty="0">
                <a:solidFill>
                  <a:srgbClr val="F0F2F8"/>
                </a:solidFill>
                <a:latin typeface="Consolas" pitchFamily="34" charset="0"/>
                <a:ea typeface="Consolas" pitchFamily="34" charset="-122"/>
                <a:cs typeface="Consolas" pitchFamily="34" charset="-120"/>
              </a:rPr>
              <a:t>    if not items:</a:t>
            </a:r>
            <a:endParaRPr lang="en-US" sz="1200" dirty="0"/>
          </a:p>
          <a:p>
            <a:pPr indent="0" marL="0">
              <a:buNone/>
            </a:pPr>
            <a:r>
              <a:rPr lang="en-US" sz="1100" dirty="0">
                <a:solidFill>
                  <a:srgbClr val="F0F2F8"/>
                </a:solidFill>
                <a:latin typeface="Consolas" pitchFamily="34" charset="0"/>
                <a:ea typeface="Consolas" pitchFamily="34" charset="-122"/>
                <a:cs typeface="Consolas" pitchFamily="34" charset="-120"/>
              </a:rPr>
              <a:t>        return SpecResult(</a:t>
            </a:r>
            <a:endParaRPr lang="en-US" sz="1200" dirty="0"/>
          </a:p>
          <a:p>
            <a:pPr indent="0" marL="0">
              <a:buNone/>
            </a:pPr>
            <a:r>
              <a:rPr lang="en-US" sz="1100" dirty="0">
                <a:solidFill>
                  <a:srgbClr val="F0F2F8"/>
                </a:solidFill>
                <a:latin typeface="Consolas" pitchFamily="34" charset="0"/>
                <a:ea typeface="Consolas" pitchFamily="34" charset="-122"/>
                <a:cs typeface="Consolas" pitchFamily="34" charset="-120"/>
              </a:rPr>
              <a:t>            rule_id="extract_post", passed=False,</a:t>
            </a:r>
            <a:endParaRPr lang="en-US" sz="1200" dirty="0"/>
          </a:p>
          <a:p>
            <a:pPr indent="0" marL="0">
              <a:buNone/>
            </a:pPr>
            <a:r>
              <a:rPr lang="en-US" sz="1100" dirty="0">
                <a:solidFill>
                  <a:srgbClr val="F0F2F8"/>
                </a:solidFill>
                <a:latin typeface="Consolas" pitchFamily="34" charset="0"/>
                <a:ea typeface="Consolas" pitchFamily="34" charset="-122"/>
                <a:cs typeface="Consolas" pitchFamily="34" charset="-120"/>
              </a:rPr>
              <a:t>            message="No items were extracted")</a:t>
            </a:r>
            <a:endParaRPr lang="en-US" sz="1200" dirty="0"/>
          </a:p>
          <a:p>
            <a:pPr indent="0" marL="0">
              <a:buNone/>
            </a:pPr>
            <a:r>
              <a:rPr lang="en-US" sz="1100" dirty="0">
                <a:solidFill>
                  <a:srgbClr val="9CA3AF"/>
                </a:solidFill>
                <a:latin typeface="Consolas" pitchFamily="34" charset="0"/>
                <a:ea typeface="Consolas" pitchFamily="34" charset="-122"/>
                <a:cs typeface="Consolas" pitchFamily="34" charset="-120"/>
              </a:rPr>
              <a:t>    ...</a:t>
            </a:r>
            <a:endParaRPr lang="en-US" sz="1200" dirty="0"/>
          </a:p>
          <a:p>
            <a:pPr indent="0" marL="0">
              <a:buNone/>
            </a:pPr>
            <a:r>
              <a:rPr lang="en-US" sz="1100" dirty="0">
                <a:solidFill>
                  <a:srgbClr val="F0F2F8"/>
                </a:solidFill>
                <a:latin typeface="Consolas" pitchFamily="34" charset="0"/>
                <a:ea typeface="Consolas" pitchFamily="34" charset="-122"/>
                <a:cs typeface="Consolas" pitchFamily="34" charset="-120"/>
              </a:rPr>
              <a:t>    return SpecResult(</a:t>
            </a:r>
            <a:endParaRPr lang="en-US" sz="1200" dirty="0"/>
          </a:p>
          <a:p>
            <a:pPr indent="0" marL="0">
              <a:buNone/>
            </a:pPr>
            <a:r>
              <a:rPr lang="en-US" sz="1100" dirty="0">
                <a:solidFill>
                  <a:srgbClr val="F0F2F8"/>
                </a:solidFill>
                <a:latin typeface="Consolas" pitchFamily="34" charset="0"/>
                <a:ea typeface="Consolas" pitchFamily="34" charset="-122"/>
                <a:cs typeface="Consolas" pitchFamily="34" charset="-120"/>
              </a:rPr>
              <a:t>        rule_id="extract_post", passed=True,</a:t>
            </a:r>
            <a:endParaRPr lang="en-US" sz="1200" dirty="0"/>
          </a:p>
          <a:p>
            <a:pPr indent="0" marL="0">
              <a:buNone/>
            </a:pPr>
            <a:r>
              <a:rPr lang="en-US" sz="1100" dirty="0">
                <a:solidFill>
                  <a:srgbClr val="F0F2F8"/>
                </a:solidFill>
                <a:latin typeface="Consolas" pitchFamily="34" charset="0"/>
                <a:ea typeface="Consolas" pitchFamily="34" charset="-122"/>
                <a:cs typeface="Consolas" pitchFamily="34" charset="-120"/>
              </a:rPr>
              <a:t>        message=f"{len(items)} item(s) extracted")</a:t>
            </a:r>
            <a:endParaRPr lang="en-US" sz="1200" dirty="0"/>
          </a:p>
        </p:txBody>
      </p:sp>
      <p:sp>
        <p:nvSpPr>
          <p:cNvPr id="6" name="Shape 4"/>
          <p:cNvSpPr/>
          <p:nvPr/>
        </p:nvSpPr>
        <p:spPr>
          <a:xfrm>
            <a:off x="548640" y="4114800"/>
            <a:ext cx="2560320" cy="457200"/>
          </a:xfrm>
          <a:prstGeom prst="rect">
            <a:avLst/>
          </a:prstGeom>
          <a:solidFill>
            <a:srgbClr val="2A2D45"/>
          </a:solidFill>
          <a:ln/>
          <a:effectLst>
            <a:outerShdw sx="100000" sy="100000" kx="0" ky="0" algn="bl" rotWithShape="0" blurRad="101600" dist="38100" dir="8100000">
              <a:srgbClr val="000000">
                <a:alpha val="25000"/>
              </a:srgbClr>
            </a:outerShdw>
          </a:effectLst>
        </p:spPr>
      </p:sp>
      <p:sp>
        <p:nvSpPr>
          <p:cNvPr id="7" name="Shape 5"/>
          <p:cNvSpPr/>
          <p:nvPr/>
        </p:nvSpPr>
        <p:spPr>
          <a:xfrm>
            <a:off x="548640" y="4114800"/>
            <a:ext cx="54864" cy="457200"/>
          </a:xfrm>
          <a:prstGeom prst="rect">
            <a:avLst/>
          </a:prstGeom>
          <a:solidFill>
            <a:srgbClr val="4F8FE6"/>
          </a:solidFill>
          <a:ln/>
        </p:spPr>
      </p:sp>
      <p:sp>
        <p:nvSpPr>
          <p:cNvPr id="8" name="Text 6"/>
          <p:cNvSpPr/>
          <p:nvPr/>
        </p:nvSpPr>
        <p:spPr>
          <a:xfrm>
            <a:off x="731520" y="4114800"/>
            <a:ext cx="2286000" cy="457200"/>
          </a:xfrm>
          <a:prstGeom prst="rect">
            <a:avLst/>
          </a:prstGeom>
          <a:noFill/>
          <a:ln/>
        </p:spPr>
        <p:txBody>
          <a:bodyPr wrap="square" lIns="0" tIns="0" rIns="0" bIns="0" rtlCol="0" anchor="ctr"/>
          <a:lstStyle/>
          <a:p>
            <a:pPr indent="0" marL="0">
              <a:buNone/>
            </a:pPr>
            <a:r>
              <a:rPr lang="en-US" sz="1100" dirty="0">
                <a:solidFill>
                  <a:srgbClr val="F0F2F8"/>
                </a:solidFill>
                <a:latin typeface="Calibri" pitchFamily="34" charset="0"/>
                <a:ea typeface="Calibri" pitchFamily="34" charset="-122"/>
                <a:cs typeface="Calibri" pitchFamily="34" charset="-120"/>
              </a:rPr>
              <a:t>Kein IO, kein Netzwerk</a:t>
            </a:r>
            <a:endParaRPr lang="en-US" sz="1100" dirty="0"/>
          </a:p>
        </p:txBody>
      </p:sp>
      <p:sp>
        <p:nvSpPr>
          <p:cNvPr id="9" name="Shape 7"/>
          <p:cNvSpPr/>
          <p:nvPr/>
        </p:nvSpPr>
        <p:spPr>
          <a:xfrm>
            <a:off x="3383280" y="4114800"/>
            <a:ext cx="2560320" cy="457200"/>
          </a:xfrm>
          <a:prstGeom prst="rect">
            <a:avLst/>
          </a:prstGeom>
          <a:solidFill>
            <a:srgbClr val="2A2D45"/>
          </a:solidFill>
          <a:ln/>
          <a:effectLst>
            <a:outerShdw sx="100000" sy="100000" kx="0" ky="0" algn="bl" rotWithShape="0" blurRad="101600" dist="38100" dir="8100000">
              <a:srgbClr val="000000">
                <a:alpha val="25000"/>
              </a:srgbClr>
            </a:outerShdw>
          </a:effectLst>
        </p:spPr>
      </p:sp>
      <p:sp>
        <p:nvSpPr>
          <p:cNvPr id="10" name="Shape 8"/>
          <p:cNvSpPr/>
          <p:nvPr/>
        </p:nvSpPr>
        <p:spPr>
          <a:xfrm>
            <a:off x="3383280" y="4114800"/>
            <a:ext cx="54864" cy="457200"/>
          </a:xfrm>
          <a:prstGeom prst="rect">
            <a:avLst/>
          </a:prstGeom>
          <a:solidFill>
            <a:srgbClr val="2EC4B6"/>
          </a:solidFill>
          <a:ln/>
        </p:spPr>
      </p:sp>
      <p:sp>
        <p:nvSpPr>
          <p:cNvPr id="11" name="Text 9"/>
          <p:cNvSpPr/>
          <p:nvPr/>
        </p:nvSpPr>
        <p:spPr>
          <a:xfrm>
            <a:off x="3566160" y="4114800"/>
            <a:ext cx="2286000" cy="457200"/>
          </a:xfrm>
          <a:prstGeom prst="rect">
            <a:avLst/>
          </a:prstGeom>
          <a:noFill/>
          <a:ln/>
        </p:spPr>
        <p:txBody>
          <a:bodyPr wrap="square" lIns="0" tIns="0" rIns="0" bIns="0" rtlCol="0" anchor="ctr"/>
          <a:lstStyle/>
          <a:p>
            <a:pPr indent="0" marL="0">
              <a:buNone/>
            </a:pPr>
            <a:r>
              <a:rPr lang="en-US" sz="1100" dirty="0">
                <a:solidFill>
                  <a:srgbClr val="F0F2F8"/>
                </a:solidFill>
                <a:latin typeface="Calibri" pitchFamily="34" charset="0"/>
                <a:ea typeface="Calibri" pitchFamily="34" charset="-122"/>
                <a:cs typeface="Calibri" pitchFamily="34" charset="-120"/>
              </a:rPr>
              <a:t>Deterministisch: gleicher Input → gleiches Ergebnis</a:t>
            </a:r>
            <a:endParaRPr lang="en-US" sz="1100" dirty="0"/>
          </a:p>
        </p:txBody>
      </p:sp>
      <p:sp>
        <p:nvSpPr>
          <p:cNvPr id="12" name="Shape 10"/>
          <p:cNvSpPr/>
          <p:nvPr/>
        </p:nvSpPr>
        <p:spPr>
          <a:xfrm>
            <a:off x="6217920" y="4114800"/>
            <a:ext cx="2560320" cy="457200"/>
          </a:xfrm>
          <a:prstGeom prst="rect">
            <a:avLst/>
          </a:prstGeom>
          <a:solidFill>
            <a:srgbClr val="2A2D45"/>
          </a:solidFill>
          <a:ln/>
          <a:effectLst>
            <a:outerShdw sx="100000" sy="100000" kx="0" ky="0" algn="bl" rotWithShape="0" blurRad="101600" dist="38100" dir="8100000">
              <a:srgbClr val="000000">
                <a:alpha val="25000"/>
              </a:srgbClr>
            </a:outerShdw>
          </a:effectLst>
        </p:spPr>
      </p:sp>
      <p:sp>
        <p:nvSpPr>
          <p:cNvPr id="13" name="Shape 11"/>
          <p:cNvSpPr/>
          <p:nvPr/>
        </p:nvSpPr>
        <p:spPr>
          <a:xfrm>
            <a:off x="6217920" y="4114800"/>
            <a:ext cx="54864" cy="457200"/>
          </a:xfrm>
          <a:prstGeom prst="rect">
            <a:avLst/>
          </a:prstGeom>
          <a:solidFill>
            <a:srgbClr val="6EE7B7"/>
          </a:solidFill>
          <a:ln/>
        </p:spPr>
      </p:sp>
      <p:sp>
        <p:nvSpPr>
          <p:cNvPr id="14" name="Text 12"/>
          <p:cNvSpPr/>
          <p:nvPr/>
        </p:nvSpPr>
        <p:spPr>
          <a:xfrm>
            <a:off x="6400800" y="4114800"/>
            <a:ext cx="2286000" cy="457200"/>
          </a:xfrm>
          <a:prstGeom prst="rect">
            <a:avLst/>
          </a:prstGeom>
          <a:noFill/>
          <a:ln/>
        </p:spPr>
        <p:txBody>
          <a:bodyPr wrap="square" lIns="0" tIns="0" rIns="0" bIns="0" rtlCol="0" anchor="ctr"/>
          <a:lstStyle/>
          <a:p>
            <a:pPr indent="0" marL="0">
              <a:buNone/>
            </a:pPr>
            <a:r>
              <a:rPr lang="en-US" sz="1100" dirty="0">
                <a:solidFill>
                  <a:srgbClr val="F0F2F8"/>
                </a:solidFill>
                <a:latin typeface="Calibri" pitchFamily="34" charset="0"/>
                <a:ea typeface="Calibri" pitchFamily="34" charset="-122"/>
                <a:cs typeface="Calibri" pitchFamily="34" charset="-120"/>
              </a:rPr>
              <a:t>Testbar ohne Mocking</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D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F8FE6"/>
          </a:solidFill>
          <a:ln/>
        </p:spPr>
      </p:sp>
      <p:sp>
        <p:nvSpPr>
          <p:cNvPr id="3" name="Text 1"/>
          <p:cNvSpPr/>
          <p:nvPr/>
        </p:nvSpPr>
        <p:spPr>
          <a:xfrm>
            <a:off x="731520" y="274320"/>
            <a:ext cx="7680960" cy="548640"/>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Testprotokoll &amp; Qualitätssicherung</a:t>
            </a:r>
            <a:endParaRPr lang="en-US" sz="2800" dirty="0"/>
          </a:p>
        </p:txBody>
      </p:sp>
      <p:sp>
        <p:nvSpPr>
          <p:cNvPr id="4" name="Shape 2"/>
          <p:cNvSpPr/>
          <p:nvPr/>
        </p:nvSpPr>
        <p:spPr>
          <a:xfrm>
            <a:off x="731520" y="1005840"/>
            <a:ext cx="2194560" cy="1280160"/>
          </a:xfrm>
          <a:prstGeom prst="rect">
            <a:avLst/>
          </a:prstGeom>
          <a:solidFill>
            <a:srgbClr val="2A2D45"/>
          </a:solidFill>
          <a:ln/>
          <a:effectLst>
            <a:outerShdw sx="100000" sy="100000" kx="0" ky="0" algn="bl" rotWithShape="0" blurRad="101600" dist="38100" dir="8100000">
              <a:srgbClr val="000000">
                <a:alpha val="25000"/>
              </a:srgbClr>
            </a:outerShdw>
          </a:effectLst>
        </p:spPr>
      </p:sp>
      <p:sp>
        <p:nvSpPr>
          <p:cNvPr id="5" name="Text 3"/>
          <p:cNvSpPr/>
          <p:nvPr/>
        </p:nvSpPr>
        <p:spPr>
          <a:xfrm>
            <a:off x="731520" y="1051560"/>
            <a:ext cx="2194560" cy="731520"/>
          </a:xfrm>
          <a:prstGeom prst="rect">
            <a:avLst/>
          </a:prstGeom>
          <a:noFill/>
          <a:ln/>
        </p:spPr>
        <p:txBody>
          <a:bodyPr wrap="square" lIns="0" tIns="0" rIns="0" bIns="0" rtlCol="0" anchor="ctr"/>
          <a:lstStyle/>
          <a:p>
            <a:pPr algn="ctr" indent="0" marL="0">
              <a:buNone/>
            </a:pPr>
            <a:r>
              <a:rPr lang="en-US" sz="4400" b="1" dirty="0">
                <a:solidFill>
                  <a:srgbClr val="4F8FE6"/>
                </a:solidFill>
                <a:latin typeface="Trebuchet MS" pitchFamily="34" charset="0"/>
                <a:ea typeface="Trebuchet MS" pitchFamily="34" charset="-122"/>
                <a:cs typeface="Trebuchet MS" pitchFamily="34" charset="-120"/>
              </a:rPr>
              <a:t>85</a:t>
            </a:r>
            <a:endParaRPr lang="en-US" sz="4400" dirty="0"/>
          </a:p>
        </p:txBody>
      </p:sp>
      <p:sp>
        <p:nvSpPr>
          <p:cNvPr id="6" name="Text 4"/>
          <p:cNvSpPr/>
          <p:nvPr/>
        </p:nvSpPr>
        <p:spPr>
          <a:xfrm>
            <a:off x="731520" y="1783080"/>
            <a:ext cx="2194560" cy="365760"/>
          </a:xfrm>
          <a:prstGeom prst="rect">
            <a:avLst/>
          </a:prstGeom>
          <a:noFill/>
          <a:ln/>
        </p:spPr>
        <p:txBody>
          <a:bodyPr wrap="square" lIns="0" tIns="0" rIns="0" bIns="0" rtlCol="0" anchor="ctr"/>
          <a:lstStyle/>
          <a:p>
            <a:pPr algn="ctr" indent="0" marL="0">
              <a:buNone/>
            </a:pPr>
            <a:r>
              <a:rPr lang="en-US" sz="1200" dirty="0">
                <a:solidFill>
                  <a:srgbClr val="9CA3AF"/>
                </a:solidFill>
                <a:latin typeface="Calibri" pitchFamily="34" charset="0"/>
                <a:ea typeface="Calibri" pitchFamily="34" charset="-122"/>
                <a:cs typeface="Calibri" pitchFamily="34" charset="-120"/>
              </a:rPr>
              <a:t>Unit Tests</a:t>
            </a:r>
            <a:endParaRPr lang="en-US" sz="1200" dirty="0"/>
          </a:p>
        </p:txBody>
      </p:sp>
      <p:sp>
        <p:nvSpPr>
          <p:cNvPr id="7" name="Shape 5"/>
          <p:cNvSpPr/>
          <p:nvPr/>
        </p:nvSpPr>
        <p:spPr>
          <a:xfrm>
            <a:off x="3291840" y="1005840"/>
            <a:ext cx="2194560" cy="1280160"/>
          </a:xfrm>
          <a:prstGeom prst="rect">
            <a:avLst/>
          </a:prstGeom>
          <a:solidFill>
            <a:srgbClr val="2A2D45"/>
          </a:solidFill>
          <a:ln/>
          <a:effectLst>
            <a:outerShdw sx="100000" sy="100000" kx="0" ky="0" algn="bl" rotWithShape="0" blurRad="101600" dist="38100" dir="8100000">
              <a:srgbClr val="000000">
                <a:alpha val="25000"/>
              </a:srgbClr>
            </a:outerShdw>
          </a:effectLst>
        </p:spPr>
      </p:sp>
      <p:sp>
        <p:nvSpPr>
          <p:cNvPr id="8" name="Text 6"/>
          <p:cNvSpPr/>
          <p:nvPr/>
        </p:nvSpPr>
        <p:spPr>
          <a:xfrm>
            <a:off x="3291840" y="1051560"/>
            <a:ext cx="2194560" cy="731520"/>
          </a:xfrm>
          <a:prstGeom prst="rect">
            <a:avLst/>
          </a:prstGeom>
          <a:noFill/>
          <a:ln/>
        </p:spPr>
        <p:txBody>
          <a:bodyPr wrap="square" lIns="0" tIns="0" rIns="0" bIns="0" rtlCol="0" anchor="ctr"/>
          <a:lstStyle/>
          <a:p>
            <a:pPr algn="ctr" indent="0" marL="0">
              <a:buNone/>
            </a:pPr>
            <a:r>
              <a:rPr lang="en-US" sz="4400" b="1" dirty="0">
                <a:solidFill>
                  <a:srgbClr val="4F8FE6"/>
                </a:solidFill>
                <a:latin typeface="Trebuchet MS" pitchFamily="34" charset="0"/>
                <a:ea typeface="Trebuchet MS" pitchFamily="34" charset="-122"/>
                <a:cs typeface="Trebuchet MS" pitchFamily="34" charset="-120"/>
              </a:rPr>
              <a:t>30</a:t>
            </a:r>
            <a:endParaRPr lang="en-US" sz="4400" dirty="0"/>
          </a:p>
        </p:txBody>
      </p:sp>
      <p:sp>
        <p:nvSpPr>
          <p:cNvPr id="9" name="Text 7"/>
          <p:cNvSpPr/>
          <p:nvPr/>
        </p:nvSpPr>
        <p:spPr>
          <a:xfrm>
            <a:off x="3291840" y="1783080"/>
            <a:ext cx="2194560" cy="365760"/>
          </a:xfrm>
          <a:prstGeom prst="rect">
            <a:avLst/>
          </a:prstGeom>
          <a:noFill/>
          <a:ln/>
        </p:spPr>
        <p:txBody>
          <a:bodyPr wrap="square" lIns="0" tIns="0" rIns="0" bIns="0" rtlCol="0" anchor="ctr"/>
          <a:lstStyle/>
          <a:p>
            <a:pPr algn="ctr" indent="0" marL="0">
              <a:buNone/>
            </a:pPr>
            <a:r>
              <a:rPr lang="en-US" sz="1200" dirty="0">
                <a:solidFill>
                  <a:srgbClr val="9CA3AF"/>
                </a:solidFill>
                <a:latin typeface="Calibri" pitchFamily="34" charset="0"/>
                <a:ea typeface="Calibri" pitchFamily="34" charset="-122"/>
                <a:cs typeface="Calibri" pitchFamily="34" charset="-120"/>
              </a:rPr>
              <a:t>Testfälle dokumentiert</a:t>
            </a:r>
            <a:endParaRPr lang="en-US" sz="1200" dirty="0"/>
          </a:p>
        </p:txBody>
      </p:sp>
      <p:sp>
        <p:nvSpPr>
          <p:cNvPr id="10" name="Shape 8"/>
          <p:cNvSpPr/>
          <p:nvPr/>
        </p:nvSpPr>
        <p:spPr>
          <a:xfrm>
            <a:off x="5852160" y="1005840"/>
            <a:ext cx="2194560" cy="1280160"/>
          </a:xfrm>
          <a:prstGeom prst="rect">
            <a:avLst/>
          </a:prstGeom>
          <a:solidFill>
            <a:srgbClr val="2A2D45"/>
          </a:solidFill>
          <a:ln/>
          <a:effectLst>
            <a:outerShdw sx="100000" sy="100000" kx="0" ky="0" algn="bl" rotWithShape="0" blurRad="101600" dist="38100" dir="8100000">
              <a:srgbClr val="000000">
                <a:alpha val="25000"/>
              </a:srgbClr>
            </a:outerShdw>
          </a:effectLst>
        </p:spPr>
      </p:sp>
      <p:sp>
        <p:nvSpPr>
          <p:cNvPr id="11" name="Text 9"/>
          <p:cNvSpPr/>
          <p:nvPr/>
        </p:nvSpPr>
        <p:spPr>
          <a:xfrm>
            <a:off x="5852160" y="1051560"/>
            <a:ext cx="2194560" cy="731520"/>
          </a:xfrm>
          <a:prstGeom prst="rect">
            <a:avLst/>
          </a:prstGeom>
          <a:noFill/>
          <a:ln/>
        </p:spPr>
        <p:txBody>
          <a:bodyPr wrap="square" lIns="0" tIns="0" rIns="0" bIns="0" rtlCol="0" anchor="ctr"/>
          <a:lstStyle/>
          <a:p>
            <a:pPr algn="ctr" indent="0" marL="0">
              <a:buNone/>
            </a:pPr>
            <a:r>
              <a:rPr lang="en-US" sz="4400" b="1" dirty="0">
                <a:solidFill>
                  <a:srgbClr val="4F8FE6"/>
                </a:solidFill>
                <a:latin typeface="Trebuchet MS" pitchFamily="34" charset="0"/>
                <a:ea typeface="Trebuchet MS" pitchFamily="34" charset="-122"/>
                <a:cs typeface="Trebuchet MS" pitchFamily="34" charset="-120"/>
              </a:rPr>
              <a:t>0</a:t>
            </a:r>
            <a:endParaRPr lang="en-US" sz="4400" dirty="0"/>
          </a:p>
        </p:txBody>
      </p:sp>
      <p:sp>
        <p:nvSpPr>
          <p:cNvPr id="12" name="Text 10"/>
          <p:cNvSpPr/>
          <p:nvPr/>
        </p:nvSpPr>
        <p:spPr>
          <a:xfrm>
            <a:off x="5852160" y="1783080"/>
            <a:ext cx="2194560" cy="365760"/>
          </a:xfrm>
          <a:prstGeom prst="rect">
            <a:avLst/>
          </a:prstGeom>
          <a:noFill/>
          <a:ln/>
        </p:spPr>
        <p:txBody>
          <a:bodyPr wrap="square" lIns="0" tIns="0" rIns="0" bIns="0" rtlCol="0" anchor="ctr"/>
          <a:lstStyle/>
          <a:p>
            <a:pPr algn="ctr" indent="0" marL="0">
              <a:buNone/>
            </a:pPr>
            <a:r>
              <a:rPr lang="en-US" sz="1200" dirty="0">
                <a:solidFill>
                  <a:srgbClr val="9CA3AF"/>
                </a:solidFill>
                <a:latin typeface="Calibri" pitchFamily="34" charset="0"/>
                <a:ea typeface="Calibri" pitchFamily="34" charset="-122"/>
                <a:cs typeface="Calibri" pitchFamily="34" charset="-120"/>
              </a:rPr>
              <a:t>Externe Abhängigkeiten</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2560320"/>
          <a:ext cx="7680960" cy="914400"/>
        </p:xfrm>
        <a:graphic>
          <a:graphicData uri="http://schemas.openxmlformats.org/drawingml/2006/table">
            <a:tbl>
              <a:tblPr/>
              <a:tblGrid>
                <a:gridCol w="2011680"/>
                <a:gridCol w="914400"/>
                <a:gridCol w="475488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Bereich</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4F8FE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Tests</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4F8FE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Abdeckung</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4F8FE6"/>
                    </a:solidFill>
                  </a:tcPr>
                </a:tc>
              </a:tr>
              <a:tr h="0">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T1 IntakeAgent</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52840"/>
                    </a:solidFill>
                  </a:tcPr>
                </a:tc>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52840"/>
                    </a:solidFill>
                  </a:tcPr>
                </a:tc>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Dateiladen, UTF-8, Leerordner</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52840"/>
                    </a:solidFill>
                  </a:tcPr>
                </a:tc>
              </a:tr>
              <a:tr h="0">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T2 ExtractAgent</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A2D45"/>
                    </a:solidFill>
                  </a:tcPr>
                </a:tc>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A2D45"/>
                    </a:solidFill>
                  </a:tcPr>
                </a:tc>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LLM-Parsing, Fehlerfall, Traces</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A2D45"/>
                    </a:solidFill>
                  </a:tcPr>
                </a:tc>
              </a:tr>
              <a:tr h="0">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T3 WriteAgent</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52840"/>
                    </a:solidFill>
                  </a:tcPr>
                </a:tc>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52840"/>
                    </a:solidFill>
                  </a:tcPr>
                </a:tc>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JSON, Markdown, sichere Dateinamen</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52840"/>
                    </a:solidFill>
                  </a:tcPr>
                </a:tc>
              </a:tr>
              <a:tr h="0">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T4 Spec-Validierung</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A2D45"/>
                    </a:solidFill>
                  </a:tcPr>
                </a:tc>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A2D45"/>
                    </a:solidFill>
                  </a:tcPr>
                </a:tc>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Alle Pre/Post/Invariant-Specs</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A2D45"/>
                    </a:solidFill>
                  </a:tcPr>
                </a:tc>
              </a:tr>
              <a:tr h="0">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T5 Orchestrator E2E</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52840"/>
                    </a:solidFill>
                  </a:tcPr>
                </a:tc>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52840"/>
                    </a:solidFill>
                  </a:tcPr>
                </a:tc>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Happy-Path, DB, Retry</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52840"/>
                    </a:solidFill>
                  </a:tcPr>
                </a:tc>
              </a:tr>
              <a:tr h="0">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T6 Fehlerbehandlung</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A2D45"/>
                    </a:solidFill>
                  </a:tcPr>
                </a:tc>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A2D45"/>
                    </a:solidFill>
                  </a:tcPr>
                </a:tc>
                <a:tc>
                  <a:txBody>
                    <a:bodyPr/>
                    <a:lstStyle/>
                    <a:p>
                      <a:pPr indent="0" marL="0">
                        <a:buNone/>
                      </a:pPr>
                      <a:r>
                        <a:rPr lang="en-US" sz="1100" dirty="0">
                          <a:solidFill>
                            <a:srgbClr val="F0F2F8"/>
                          </a:solidFill>
                          <a:latin typeface="Calibri" pitchFamily="34" charset="0"/>
                          <a:ea typeface="Calibri" pitchFamily="34" charset="-122"/>
                          <a:cs typeface="Calibri" pitchFamily="34" charset="-120"/>
                        </a:rPr>
                        <a:t>HTTP 401/429/500, malformer JSON</a:t>
                      </a:r>
                      <a:endParaRPr lang="en-US" sz="1100" dirty="0">
                        <a:latin typeface="Calibri" charset="0"/>
                        <a:ea typeface="Calibri" charset="0"/>
                        <a:cs typeface="Calibri" charset="0"/>
                      </a:endParaRPr>
                    </a:p>
                  </a:txBody>
                  <a:tcPr marL="91440" marR="91440" marT="45720" marB="45720" anchor="ctr">
                    <a:lnL w="6350" cap="flat" cmpd="sng" algn="ctr">
                      <a:solidFill>
                        <a:srgbClr val="3A3D55"/>
                      </a:solidFill>
                      <a:prstDash val="solid"/>
                      <a:round/>
                      <a:headEnd type="none" w="med" len="med"/>
                      <a:tailEnd type="none" w="med" len="med"/>
                    </a:lnL>
                    <a:lnR w="6350" cap="flat" cmpd="sng" algn="ctr">
                      <a:solidFill>
                        <a:srgbClr val="3A3D55"/>
                      </a:solidFill>
                      <a:prstDash val="solid"/>
                      <a:round/>
                      <a:headEnd type="none" w="med" len="med"/>
                      <a:tailEnd type="none" w="med" len="med"/>
                    </a:lnR>
                    <a:lnT w="6350" cap="flat" cmpd="sng" algn="ctr">
                      <a:solidFill>
                        <a:srgbClr val="3A3D55"/>
                      </a:solidFill>
                      <a:prstDash val="solid"/>
                      <a:round/>
                      <a:headEnd type="none" w="med" len="med"/>
                      <a:tailEnd type="none" w="med" len="med"/>
                    </a:lnT>
                    <a:lnB w="6350" cap="flat" cmpd="sng" algn="ctr">
                      <a:solidFill>
                        <a:srgbClr val="3A3D55"/>
                      </a:solidFill>
                      <a:prstDash val="solid"/>
                      <a:round/>
                      <a:headEnd type="none" w="med" len="med"/>
                      <a:tailEnd type="none" w="med" len="med"/>
                    </a:lnB>
                    <a:solidFill>
                      <a:srgbClr val="2A2D45"/>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D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F8FE6"/>
          </a:solidFill>
          <a:ln/>
        </p:spPr>
      </p:sp>
      <p:sp>
        <p:nvSpPr>
          <p:cNvPr id="3" name="Text 1"/>
          <p:cNvSpPr/>
          <p:nvPr/>
        </p:nvSpPr>
        <p:spPr>
          <a:xfrm>
            <a:off x="731520" y="274320"/>
            <a:ext cx="7680960" cy="548640"/>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Weitere UML-Diagramme</a:t>
            </a:r>
            <a:endParaRPr lang="en-US" sz="2800" dirty="0"/>
          </a:p>
        </p:txBody>
      </p:sp>
      <p:sp>
        <p:nvSpPr>
          <p:cNvPr id="4" name="Shape 2"/>
          <p:cNvSpPr/>
          <p:nvPr/>
        </p:nvSpPr>
        <p:spPr>
          <a:xfrm>
            <a:off x="182880" y="868680"/>
            <a:ext cx="4389120" cy="1965960"/>
          </a:xfrm>
          <a:prstGeom prst="roundRect">
            <a:avLst>
              <a:gd name="adj" fmla="val 5581"/>
            </a:avLst>
          </a:prstGeom>
          <a:solidFill>
            <a:srgbClr val="FFFFFF"/>
          </a:solidFill>
          <a:ln/>
        </p:spPr>
      </p:sp>
      <p:pic>
        <p:nvPicPr>
          <p:cNvPr id="5" name="Image 0" descr="preencoded.png">    </p:cNvPr>
          <p:cNvPicPr>
            <a:picLocks noChangeAspect="1"/>
          </p:cNvPicPr>
          <p:nvPr/>
        </p:nvPicPr>
        <p:blipFill>
          <a:blip r:embed="rId1"/>
          <a:srcRect l="0" r="0" t="0" b="0"/>
          <a:stretch/>
        </p:blipFill>
        <p:spPr>
          <a:xfrm>
            <a:off x="274320" y="914400"/>
            <a:ext cx="4206240" cy="1828800"/>
          </a:xfrm>
          <a:prstGeom prst="rect">
            <a:avLst/>
          </a:prstGeom>
        </p:spPr>
      </p:pic>
      <p:sp>
        <p:nvSpPr>
          <p:cNvPr id="6" name="Text 3"/>
          <p:cNvSpPr/>
          <p:nvPr/>
        </p:nvSpPr>
        <p:spPr>
          <a:xfrm>
            <a:off x="274320" y="2880360"/>
            <a:ext cx="4206240" cy="27432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Aktivitätsdiagramm</a:t>
            </a:r>
            <a:endParaRPr lang="en-US" sz="1100" dirty="0"/>
          </a:p>
        </p:txBody>
      </p:sp>
      <p:sp>
        <p:nvSpPr>
          <p:cNvPr id="7" name="Shape 4"/>
          <p:cNvSpPr/>
          <p:nvPr/>
        </p:nvSpPr>
        <p:spPr>
          <a:xfrm>
            <a:off x="4572000" y="868680"/>
            <a:ext cx="4389120" cy="1965960"/>
          </a:xfrm>
          <a:prstGeom prst="roundRect">
            <a:avLst>
              <a:gd name="adj" fmla="val 5581"/>
            </a:avLst>
          </a:prstGeom>
          <a:solidFill>
            <a:srgbClr val="FFFFFF"/>
          </a:solidFill>
          <a:ln/>
        </p:spPr>
      </p:sp>
      <p:pic>
        <p:nvPicPr>
          <p:cNvPr id="8" name="Image 1" descr="preencoded.png">    </p:cNvPr>
          <p:cNvPicPr>
            <a:picLocks noChangeAspect="1"/>
          </p:cNvPicPr>
          <p:nvPr/>
        </p:nvPicPr>
        <p:blipFill>
          <a:blip r:embed="rId2"/>
          <a:srcRect l="0" r="0" t="0" b="0"/>
          <a:stretch/>
        </p:blipFill>
        <p:spPr>
          <a:xfrm>
            <a:off x="4663440" y="914400"/>
            <a:ext cx="4206240" cy="1828800"/>
          </a:xfrm>
          <a:prstGeom prst="rect">
            <a:avLst/>
          </a:prstGeom>
        </p:spPr>
      </p:pic>
      <p:sp>
        <p:nvSpPr>
          <p:cNvPr id="9" name="Text 5"/>
          <p:cNvSpPr/>
          <p:nvPr/>
        </p:nvSpPr>
        <p:spPr>
          <a:xfrm>
            <a:off x="4663440" y="2880360"/>
            <a:ext cx="4206240" cy="27432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Sequenzdiagramm</a:t>
            </a:r>
            <a:endParaRPr lang="en-US" sz="1100" dirty="0"/>
          </a:p>
        </p:txBody>
      </p:sp>
      <p:sp>
        <p:nvSpPr>
          <p:cNvPr id="10" name="Shape 6"/>
          <p:cNvSpPr/>
          <p:nvPr/>
        </p:nvSpPr>
        <p:spPr>
          <a:xfrm>
            <a:off x="182880" y="3246120"/>
            <a:ext cx="4389120" cy="1965960"/>
          </a:xfrm>
          <a:prstGeom prst="roundRect">
            <a:avLst>
              <a:gd name="adj" fmla="val 5581"/>
            </a:avLst>
          </a:prstGeom>
          <a:solidFill>
            <a:srgbClr val="FFFFFF"/>
          </a:solidFill>
          <a:ln/>
        </p:spPr>
      </p:sp>
      <p:pic>
        <p:nvPicPr>
          <p:cNvPr id="11" name="Image 2" descr="preencoded.png">    </p:cNvPr>
          <p:cNvPicPr>
            <a:picLocks noChangeAspect="1"/>
          </p:cNvPicPr>
          <p:nvPr/>
        </p:nvPicPr>
        <p:blipFill>
          <a:blip r:embed="rId3"/>
          <a:srcRect l="0" r="0" t="0" b="0"/>
          <a:stretch/>
        </p:blipFill>
        <p:spPr>
          <a:xfrm>
            <a:off x="274320" y="3291840"/>
            <a:ext cx="4206240" cy="1828800"/>
          </a:xfrm>
          <a:prstGeom prst="rect">
            <a:avLst/>
          </a:prstGeom>
        </p:spPr>
      </p:pic>
      <p:sp>
        <p:nvSpPr>
          <p:cNvPr id="12" name="Text 7"/>
          <p:cNvSpPr/>
          <p:nvPr/>
        </p:nvSpPr>
        <p:spPr>
          <a:xfrm>
            <a:off x="274320" y="4892040"/>
            <a:ext cx="4206240" cy="27432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Zustandsdiagramm</a:t>
            </a:r>
            <a:endParaRPr lang="en-US" sz="1100" dirty="0"/>
          </a:p>
        </p:txBody>
      </p:sp>
      <p:sp>
        <p:nvSpPr>
          <p:cNvPr id="13" name="Text 8"/>
          <p:cNvSpPr/>
          <p:nvPr/>
        </p:nvSpPr>
        <p:spPr>
          <a:xfrm>
            <a:off x="457200" y="4800600"/>
            <a:ext cx="8229600" cy="274320"/>
          </a:xfrm>
          <a:prstGeom prst="rect">
            <a:avLst/>
          </a:prstGeom>
          <a:noFill/>
          <a:ln/>
        </p:spPr>
        <p:txBody>
          <a:bodyPr wrap="square" rtlCol="0" anchor="ctr"/>
          <a:lstStyle/>
          <a:p>
            <a:pPr algn="r" indent="0" marL="0">
              <a:buNone/>
            </a:pPr>
            <a:r>
              <a:rPr lang="en-US" sz="900" i="1" dirty="0">
                <a:solidFill>
                  <a:srgbClr val="9CA3AF"/>
                </a:solidFill>
                <a:latin typeface="Calibri" pitchFamily="34" charset="0"/>
                <a:ea typeface="Calibri" pitchFamily="34" charset="-122"/>
                <a:cs typeface="Calibri" pitchFamily="34" charset="-120"/>
              </a:rPr>
              <a:t>Diagramme in Originalauflösung: siehe docs/presentation/</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D2E"/>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F8FE6"/>
          </a:solidFill>
          <a:ln/>
        </p:spPr>
      </p:sp>
      <p:sp>
        <p:nvSpPr>
          <p:cNvPr id="3" name="Text 1"/>
          <p:cNvSpPr/>
          <p:nvPr/>
        </p:nvSpPr>
        <p:spPr>
          <a:xfrm>
            <a:off x="731520" y="274320"/>
            <a:ext cx="7680960" cy="548640"/>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Fazit</a:t>
            </a:r>
            <a:endParaRPr lang="en-US" sz="2800" dirty="0"/>
          </a:p>
        </p:txBody>
      </p:sp>
      <p:sp>
        <p:nvSpPr>
          <p:cNvPr id="4" name="Shape 2"/>
          <p:cNvSpPr/>
          <p:nvPr/>
        </p:nvSpPr>
        <p:spPr>
          <a:xfrm>
            <a:off x="731520" y="1005840"/>
            <a:ext cx="7680960" cy="1097280"/>
          </a:xfrm>
          <a:prstGeom prst="rect">
            <a:avLst/>
          </a:prstGeom>
          <a:solidFill>
            <a:srgbClr val="2A2D45"/>
          </a:solidFill>
          <a:ln/>
          <a:effectLst>
            <a:outerShdw sx="100000" sy="100000" kx="0" ky="0" algn="bl" rotWithShape="0" blurRad="101600" dist="38100" dir="8100000">
              <a:srgbClr val="000000">
                <a:alpha val="25000"/>
              </a:srgbClr>
            </a:outerShdw>
          </a:effectLst>
        </p:spPr>
      </p:sp>
      <p:sp>
        <p:nvSpPr>
          <p:cNvPr id="5" name="Shape 3"/>
          <p:cNvSpPr/>
          <p:nvPr/>
        </p:nvSpPr>
        <p:spPr>
          <a:xfrm>
            <a:off x="731520" y="1005840"/>
            <a:ext cx="73152" cy="1097280"/>
          </a:xfrm>
          <a:prstGeom prst="rect">
            <a:avLst/>
          </a:prstGeom>
          <a:solidFill>
            <a:srgbClr val="2EC4B6"/>
          </a:solidFill>
          <a:ln/>
        </p:spPr>
      </p:sp>
      <p:sp>
        <p:nvSpPr>
          <p:cNvPr id="6" name="Text 4"/>
          <p:cNvSpPr/>
          <p:nvPr/>
        </p:nvSpPr>
        <p:spPr>
          <a:xfrm>
            <a:off x="1051560" y="1078992"/>
            <a:ext cx="7132320" cy="320040"/>
          </a:xfrm>
          <a:prstGeom prst="rect">
            <a:avLst/>
          </a:prstGeom>
          <a:noFill/>
          <a:ln/>
        </p:spPr>
        <p:txBody>
          <a:bodyPr wrap="square" lIns="0" tIns="0" rIns="0" bIns="0" rtlCol="0" anchor="ctr"/>
          <a:lstStyle/>
          <a:p>
            <a:pPr indent="0" marL="0">
              <a:buNone/>
            </a:pPr>
            <a:r>
              <a:rPr lang="en-US" sz="1600" b="1" dirty="0">
                <a:solidFill>
                  <a:srgbClr val="2EC4B6"/>
                </a:solidFill>
                <a:latin typeface="Trebuchet MS" pitchFamily="34" charset="0"/>
                <a:ea typeface="Trebuchet MS" pitchFamily="34" charset="-122"/>
                <a:cs typeface="Trebuchet MS" pitchFamily="34" charset="-120"/>
              </a:rPr>
              <a:t>Was gut lief</a:t>
            </a:r>
            <a:endParaRPr lang="en-US" sz="1600" dirty="0"/>
          </a:p>
        </p:txBody>
      </p:sp>
      <p:sp>
        <p:nvSpPr>
          <p:cNvPr id="7" name="Text 5"/>
          <p:cNvSpPr/>
          <p:nvPr/>
        </p:nvSpPr>
        <p:spPr>
          <a:xfrm>
            <a:off x="1051560" y="1417320"/>
            <a:ext cx="7132320" cy="594360"/>
          </a:xfrm>
          <a:prstGeom prst="rect">
            <a:avLst/>
          </a:prstGeom>
          <a:noFill/>
          <a:ln/>
        </p:spPr>
        <p:txBody>
          <a:bodyPr wrap="square" lIns="0" tIns="0" rIns="0" bIns="0" rtlCol="0" anchor="t"/>
          <a:lstStyle/>
          <a:p>
            <a:pPr indent="0" marL="0">
              <a:buNone/>
            </a:pPr>
            <a:r>
              <a:rPr lang="en-US" sz="1200" dirty="0">
                <a:solidFill>
                  <a:srgbClr val="F0F2F8"/>
                </a:solidFill>
                <a:latin typeface="Calibri" pitchFamily="34" charset="0"/>
                <a:ea typeface="Calibri" pitchFamily="34" charset="-122"/>
                <a:cs typeface="Calibri" pitchFamily="34" charset="-120"/>
              </a:rPr>
              <a:t>Der Spec-Pattern-Ansatz hat sich bewährt — klare Trennung zwischen Validierung und IO macht das System testbar und erweiterbar. Zero-Dependency-Entscheidung ermöglicht Betrieb auf jedem Rechner mit Python.</a:t>
            </a:r>
            <a:endParaRPr lang="en-US" sz="1200" dirty="0"/>
          </a:p>
        </p:txBody>
      </p:sp>
      <p:sp>
        <p:nvSpPr>
          <p:cNvPr id="8" name="Shape 6"/>
          <p:cNvSpPr/>
          <p:nvPr/>
        </p:nvSpPr>
        <p:spPr>
          <a:xfrm>
            <a:off x="731520" y="2286000"/>
            <a:ext cx="7680960" cy="1097280"/>
          </a:xfrm>
          <a:prstGeom prst="rect">
            <a:avLst/>
          </a:prstGeom>
          <a:solidFill>
            <a:srgbClr val="2A2D45"/>
          </a:solidFill>
          <a:ln/>
          <a:effectLst>
            <a:outerShdw sx="100000" sy="100000" kx="0" ky="0" algn="bl" rotWithShape="0" blurRad="101600" dist="38100" dir="8100000">
              <a:srgbClr val="000000">
                <a:alpha val="25000"/>
              </a:srgbClr>
            </a:outerShdw>
          </a:effectLst>
        </p:spPr>
      </p:sp>
      <p:sp>
        <p:nvSpPr>
          <p:cNvPr id="9" name="Shape 7"/>
          <p:cNvSpPr/>
          <p:nvPr/>
        </p:nvSpPr>
        <p:spPr>
          <a:xfrm>
            <a:off x="731520" y="2286000"/>
            <a:ext cx="73152" cy="1097280"/>
          </a:xfrm>
          <a:prstGeom prst="rect">
            <a:avLst/>
          </a:prstGeom>
          <a:solidFill>
            <a:srgbClr val="4F8FE6"/>
          </a:solidFill>
          <a:ln/>
        </p:spPr>
      </p:sp>
      <p:sp>
        <p:nvSpPr>
          <p:cNvPr id="10" name="Text 8"/>
          <p:cNvSpPr/>
          <p:nvPr/>
        </p:nvSpPr>
        <p:spPr>
          <a:xfrm>
            <a:off x="1051560" y="2359152"/>
            <a:ext cx="7132320" cy="320040"/>
          </a:xfrm>
          <a:prstGeom prst="rect">
            <a:avLst/>
          </a:prstGeom>
          <a:noFill/>
          <a:ln/>
        </p:spPr>
        <p:txBody>
          <a:bodyPr wrap="square" lIns="0" tIns="0" rIns="0" bIns="0" rtlCol="0" anchor="ctr"/>
          <a:lstStyle/>
          <a:p>
            <a:pPr indent="0" marL="0">
              <a:buNone/>
            </a:pPr>
            <a:r>
              <a:rPr lang="en-US" sz="1600" b="1" dirty="0">
                <a:solidFill>
                  <a:srgbClr val="4F8FE6"/>
                </a:solidFill>
                <a:latin typeface="Trebuchet MS" pitchFamily="34" charset="0"/>
                <a:ea typeface="Trebuchet MS" pitchFamily="34" charset="-122"/>
                <a:cs typeface="Trebuchet MS" pitchFamily="34" charset="-120"/>
              </a:rPr>
              <a:t>Was ich anders machen würde</a:t>
            </a:r>
            <a:endParaRPr lang="en-US" sz="1600" dirty="0"/>
          </a:p>
        </p:txBody>
      </p:sp>
      <p:sp>
        <p:nvSpPr>
          <p:cNvPr id="11" name="Text 9"/>
          <p:cNvSpPr/>
          <p:nvPr/>
        </p:nvSpPr>
        <p:spPr>
          <a:xfrm>
            <a:off x="1051560" y="2697480"/>
            <a:ext cx="7132320" cy="594360"/>
          </a:xfrm>
          <a:prstGeom prst="rect">
            <a:avLst/>
          </a:prstGeom>
          <a:noFill/>
          <a:ln/>
        </p:spPr>
        <p:txBody>
          <a:bodyPr wrap="square" lIns="0" tIns="0" rIns="0" bIns="0" rtlCol="0" anchor="t"/>
          <a:lstStyle/>
          <a:p>
            <a:pPr indent="0" marL="0">
              <a:buNone/>
            </a:pPr>
            <a:r>
              <a:rPr lang="en-US" sz="1200" dirty="0">
                <a:solidFill>
                  <a:srgbClr val="F0F2F8"/>
                </a:solidFill>
                <a:latin typeface="Calibri" pitchFamily="34" charset="0"/>
                <a:ea typeface="Calibri" pitchFamily="34" charset="-122"/>
                <a:cs typeface="Calibri" pitchFamily="34" charset="-120"/>
              </a:rPr>
              <a:t>Mehr Error-Handling von Anfang an (statt nachträglich). Den lokalen Provider von Tag 1 einplanen statt nachzurüsten. Formale Dokumentation früher beginnen.</a:t>
            </a:r>
            <a:endParaRPr lang="en-US" sz="1200" dirty="0"/>
          </a:p>
        </p:txBody>
      </p:sp>
      <p:sp>
        <p:nvSpPr>
          <p:cNvPr id="12" name="Shape 10"/>
          <p:cNvSpPr/>
          <p:nvPr/>
        </p:nvSpPr>
        <p:spPr>
          <a:xfrm>
            <a:off x="731520" y="3566160"/>
            <a:ext cx="7680960" cy="1097280"/>
          </a:xfrm>
          <a:prstGeom prst="rect">
            <a:avLst/>
          </a:prstGeom>
          <a:solidFill>
            <a:srgbClr val="2A2D45"/>
          </a:solidFill>
          <a:ln/>
          <a:effectLst>
            <a:outerShdw sx="100000" sy="100000" kx="0" ky="0" algn="bl" rotWithShape="0" blurRad="101600" dist="38100" dir="8100000">
              <a:srgbClr val="000000">
                <a:alpha val="25000"/>
              </a:srgbClr>
            </a:outerShdw>
          </a:effectLst>
        </p:spPr>
      </p:sp>
      <p:sp>
        <p:nvSpPr>
          <p:cNvPr id="13" name="Shape 11"/>
          <p:cNvSpPr/>
          <p:nvPr/>
        </p:nvSpPr>
        <p:spPr>
          <a:xfrm>
            <a:off x="731520" y="3566160"/>
            <a:ext cx="73152" cy="1097280"/>
          </a:xfrm>
          <a:prstGeom prst="rect">
            <a:avLst/>
          </a:prstGeom>
          <a:solidFill>
            <a:srgbClr val="C084FC"/>
          </a:solidFill>
          <a:ln/>
        </p:spPr>
      </p:sp>
      <p:sp>
        <p:nvSpPr>
          <p:cNvPr id="14" name="Text 12"/>
          <p:cNvSpPr/>
          <p:nvPr/>
        </p:nvSpPr>
        <p:spPr>
          <a:xfrm>
            <a:off x="1051560" y="3639312"/>
            <a:ext cx="7132320" cy="320040"/>
          </a:xfrm>
          <a:prstGeom prst="rect">
            <a:avLst/>
          </a:prstGeom>
          <a:noFill/>
          <a:ln/>
        </p:spPr>
        <p:txBody>
          <a:bodyPr wrap="square" lIns="0" tIns="0" rIns="0" bIns="0" rtlCol="0" anchor="ctr"/>
          <a:lstStyle/>
          <a:p>
            <a:pPr indent="0" marL="0">
              <a:buNone/>
            </a:pPr>
            <a:r>
              <a:rPr lang="en-US" sz="1600" b="1" dirty="0">
                <a:solidFill>
                  <a:srgbClr val="C084FC"/>
                </a:solidFill>
                <a:latin typeface="Trebuchet MS" pitchFamily="34" charset="0"/>
                <a:ea typeface="Trebuchet MS" pitchFamily="34" charset="-122"/>
                <a:cs typeface="Trebuchet MS" pitchFamily="34" charset="-120"/>
              </a:rPr>
              <a:t>Was ich gelernt habe</a:t>
            </a:r>
            <a:endParaRPr lang="en-US" sz="1600" dirty="0"/>
          </a:p>
        </p:txBody>
      </p:sp>
      <p:sp>
        <p:nvSpPr>
          <p:cNvPr id="15" name="Text 13"/>
          <p:cNvSpPr/>
          <p:nvPr/>
        </p:nvSpPr>
        <p:spPr>
          <a:xfrm>
            <a:off x="1051560" y="3977640"/>
            <a:ext cx="7132320" cy="594360"/>
          </a:xfrm>
          <a:prstGeom prst="rect">
            <a:avLst/>
          </a:prstGeom>
          <a:noFill/>
          <a:ln/>
        </p:spPr>
        <p:txBody>
          <a:bodyPr wrap="square" lIns="0" tIns="0" rIns="0" bIns="0" rtlCol="0" anchor="t"/>
          <a:lstStyle/>
          <a:p>
            <a:pPr indent="0" marL="0">
              <a:buNone/>
            </a:pPr>
            <a:r>
              <a:rPr lang="en-US" sz="1200" dirty="0">
                <a:solidFill>
                  <a:srgbClr val="F0F2F8"/>
                </a:solidFill>
                <a:latin typeface="Calibri" pitchFamily="34" charset="0"/>
                <a:ea typeface="Calibri" pitchFamily="34" charset="-122"/>
                <a:cs typeface="Calibri" pitchFamily="34" charset="-120"/>
              </a:rPr>
              <a:t>Full-Stack-Entwicklung als Einzelperson: Backend, Frontend, Datenbank, LLM-Integration, Web-Server und Dokumentation als zusammenhängendes System. Architekturentscheidungen haben langfristige Konsequenzen.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Spec-Agent Workflow System – Projektpräsentation</dc:title>
  <dc:subject>PptxGenJS Presentation</dc:subject>
  <dc:creator>Fabio</dc:creator>
  <cp:lastModifiedBy>Fabio</cp:lastModifiedBy>
  <cp:revision>1</cp:revision>
  <dcterms:created xsi:type="dcterms:W3CDTF">2026-03-17T17:05:36Z</dcterms:created>
  <dcterms:modified xsi:type="dcterms:W3CDTF">2026-03-17T17:05:36Z</dcterms:modified>
</cp:coreProperties>
</file>